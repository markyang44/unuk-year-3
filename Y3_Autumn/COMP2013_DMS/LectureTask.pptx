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555" r:id="rId2"/>
    <p:sldId id="559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06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0C8186B-1945-0B44-8E97-9D8736CB61FF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4EA86E9-4BFF-4C40-AAB2-7D115BB94D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1859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kern="150" dirty="0">
                <a:effectLst/>
                <a:latin typeface="CMR10"/>
                <a:ea typeface="NSimSun" panose="02010609030101010101" pitchFamily="49" charset="-122"/>
                <a:cs typeface="Lucida Sans" panose="020B0602030504020204" pitchFamily="34" charset="77"/>
              </a:rPr>
              <a:t>across the answers A-D, e.g. by assigning two points for A and two points for B if you are not certain which is correct,</a:t>
            </a:r>
            <a:endParaRPr lang="en-GB" sz="1800" kern="150" dirty="0">
              <a:effectLst/>
              <a:latin typeface="Liberation Serif"/>
              <a:ea typeface="NSimSun" panose="02010609030101010101" pitchFamily="49" charset="-122"/>
              <a:cs typeface="Lucida Sans" panose="020B0602030504020204" pitchFamily="34" charset="77"/>
            </a:endParaRPr>
          </a:p>
          <a:p>
            <a:pPr>
              <a:buNone/>
            </a:pPr>
            <a:r>
              <a:rPr lang="en-US" sz="1200" kern="150" dirty="0">
                <a:effectLst/>
                <a:latin typeface="CMR10"/>
                <a:ea typeface="NSimSun" panose="02010609030101010101" pitchFamily="49" charset="-122"/>
                <a:cs typeface="Lucida Sans" panose="020B0602030504020204" pitchFamily="34" charset="77"/>
              </a:rPr>
              <a:t>but you are certain that C and D are wrong, or you can assign four points to B if you are certain it is the correct answer.</a:t>
            </a:r>
            <a:endParaRPr lang="en-GB" sz="1800" kern="150" dirty="0">
              <a:effectLst/>
              <a:latin typeface="Liberation Serif"/>
              <a:ea typeface="NSimSun" panose="02010609030101010101" pitchFamily="49" charset="-122"/>
              <a:cs typeface="Lucida Sans" panose="020B0602030504020204" pitchFamily="34" charset="77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433932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0D4D05-C0A7-817A-0ED8-7B2109713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EB8BA6B-60A9-8CBA-B2F9-D3EA129A199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8D68E66-2D4B-1D4B-CBF2-274223A5C10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buNone/>
            </a:pPr>
            <a:r>
              <a:rPr lang="en-US" sz="1200" kern="150" dirty="0">
                <a:effectLst/>
                <a:latin typeface="CMR10"/>
                <a:ea typeface="NSimSun" panose="02010609030101010101" pitchFamily="49" charset="-122"/>
                <a:cs typeface="Lucida Sans" panose="020B0602030504020204" pitchFamily="34" charset="77"/>
              </a:rPr>
              <a:t>across the answers A-D, e.g. by assigning two points for A and two points for B if you are not certain which is correct,</a:t>
            </a:r>
            <a:endParaRPr lang="en-GB" sz="1800" kern="150" dirty="0">
              <a:effectLst/>
              <a:latin typeface="Liberation Serif"/>
              <a:ea typeface="NSimSun" panose="02010609030101010101" pitchFamily="49" charset="-122"/>
              <a:cs typeface="Lucida Sans" panose="020B0602030504020204" pitchFamily="34" charset="77"/>
            </a:endParaRPr>
          </a:p>
          <a:p>
            <a:pPr>
              <a:buNone/>
            </a:pPr>
            <a:r>
              <a:rPr lang="en-US" sz="1200" kern="150" dirty="0">
                <a:effectLst/>
                <a:latin typeface="CMR10"/>
                <a:ea typeface="NSimSun" panose="02010609030101010101" pitchFamily="49" charset="-122"/>
                <a:cs typeface="Lucida Sans" panose="020B0602030504020204" pitchFamily="34" charset="77"/>
              </a:rPr>
              <a:t>but you are certain that C and D are wrong, or you can assign four points to B if you are certain it is the correct answer.</a:t>
            </a:r>
            <a:endParaRPr lang="en-GB" sz="1800" kern="150" dirty="0">
              <a:effectLst/>
              <a:latin typeface="Liberation Serif"/>
              <a:ea typeface="NSimSun" panose="02010609030101010101" pitchFamily="49" charset="-122"/>
              <a:cs typeface="Lucida Sans" panose="020B0602030504020204" pitchFamily="34" charset="77"/>
            </a:endParaRPr>
          </a:p>
          <a:p>
            <a:r>
              <a:rPr lang="en-US" dirty="0"/>
              <a:t>Answer is 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6E1EAB-72E1-1C42-9B2A-6791119CC4A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3B208CF-6D31-B34E-9D95-EC615C53364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71800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4E3849-CCB7-62B7-5E2F-D768757FE7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4023C29-670C-9AC1-955C-03C730C2DE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571204-0BE8-3967-E4E0-A0A6514DFE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F629B-D48B-368B-4615-A6BCA43359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87D248-95B7-E8DF-0FFF-DBBDB94223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78169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AD0FF7-4708-1F80-83AB-481EC601B8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4F76C4-1666-7C1F-A161-43BC7293C7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C7B581-CAAB-BF93-AFAA-62199173B8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C23E10-5281-C812-9C7C-728873B2A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F89FCF-B336-80E2-96A8-0394790BBD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47042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534901-549A-A35B-1C8E-0AD4035BA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686093-281A-C2B4-4F01-499056B34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DA89D4-F326-CA43-D6CF-7B5965DB0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275822-769B-D1C0-84BE-5C8FFE821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4DF2898-A556-94BA-93FC-3C56B50C72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94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3573C-FBEC-F472-3DA0-237B7F5D3F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6DB3B19-D60D-B9F7-1D4B-79E0B2F6870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403C19A-C2B2-E904-8E8D-197A488CEA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E45C5C2-CA22-7C12-A0AC-05FAC82F49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AA00FB-A488-F180-A951-A5628F7C2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D7DB78-358F-B0E0-9A42-156520947F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8024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A9964C-938E-927D-57CA-4EB374E9AD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3A24BE-8EF5-A476-2E7D-7FAC4A5DC4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C5BCB9-3991-B52A-B902-5B5537CAC68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7D2200A-86A7-D53F-F456-384DA5576B9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4244D94-7C2E-013F-5183-31803129A45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E82970A-0C20-ADC4-CE73-551741C25C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CCD0CB-04B8-592C-2D80-BF495D241C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3DE9BB0-7A6A-9C4E-0BE3-19F835658B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9919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9A6DD-6780-4797-2A43-B54C140B2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0899D6B-0F9C-184D-C261-BC3AF0A133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6ABA2E-B896-62FC-B6FC-E46BFDD29D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9A57E3D-C49B-ADA0-2813-23A98ABD98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8240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0C65D77-AE37-0851-C82D-1E2D519C6A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35B6CB9-EEE5-2942-E6F4-E7BE51A3E3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FE55636-592B-0B8C-820E-A1E6BE0230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87523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2E44EB-44BA-093A-7DD8-50D24CE6A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E07206-32E7-AD67-9FE2-6AA9DFBEC2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4480A8-8919-D081-83A5-3A164491087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F3A744-065C-5E10-4F7A-C5352FC6EB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D21F5-359D-8891-DCE9-272311E3A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8BE5E4-1B72-27E5-31D7-63A3E90EBA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76073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1173A-9F8E-9C34-ED17-FF3343772A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6A9A7CB-42CE-4782-255A-E2FB841D93AE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679637-8D99-7E83-4028-7F8A9149D5C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0A892C5-3DF7-BD52-7ECA-040E9F6811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55F56BB-31E5-2986-F7C0-0262BAB75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483351-A5F1-C391-366D-B03471D19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13978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C10E5A-C542-4F53-E21E-86D1845E5D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326C9-2CC8-5E62-BA14-D4B7DCD3359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C9142C-3712-D25C-2EFE-9FC59C6E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9F357D-1FA1-07A2-9A1D-5DA22CAB28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7FAC66-5F01-4423-212D-79C5A45137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36819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7F658C7-F864-FF73-3E7E-CDCE081A24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C771C3-E012-24E7-D35E-B7B9AB944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41706F-1337-B231-3806-ABDF717904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CCB903-CC30-F1D8-7C10-5C295066A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C5D730-E88A-B671-50BB-43E41F5801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2932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33D73FB3-9B19-99C1-3D3B-5F99A94D0E99}"/>
              </a:ext>
            </a:extLst>
          </p:cNvPr>
          <p:cNvSpPr/>
          <p:nvPr userDrawn="1"/>
        </p:nvSpPr>
        <p:spPr>
          <a:xfrm>
            <a:off x="-1315704" y="900000"/>
            <a:ext cx="1284984" cy="719250"/>
          </a:xfrm>
          <a:prstGeom prst="rect">
            <a:avLst/>
          </a:prstGeom>
          <a:solidFill>
            <a:schemeClr val="accent4"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>
                <a:solidFill>
                  <a:schemeClr val="accent4"/>
                </a:solidFill>
              </a:rPr>
              <a:t>Move your text box to this guide if your title goes over two lines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933EE2B-307D-7AE4-C35B-9A718BF0284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046660" y="6399212"/>
            <a:ext cx="719890" cy="197810"/>
          </a:xfrm>
          <a:prstGeom prst="rect">
            <a:avLst/>
          </a:prstGeom>
        </p:spPr>
        <p:txBody>
          <a:bodyPr lIns="0" tIns="0" rIns="0" bIns="0"/>
          <a:lstStyle>
            <a:lvl1pPr algn="r">
              <a:defRPr sz="1200">
                <a:solidFill>
                  <a:schemeClr val="accent1"/>
                </a:solidFill>
              </a:defRPr>
            </a:lvl1pPr>
          </a:lstStyle>
          <a:p>
            <a:fld id="{820EACED-CA5D-B048-836B-BF30EF0E914A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ECA4DB-7437-56B6-3837-AC3C5EEB09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5451" y="1358900"/>
            <a:ext cx="11341100" cy="486092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2FC18C2-35C0-6A2D-7CC1-B9CB79EDB5D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25563" y="0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/>
          <a:p>
            <a:r>
              <a:rPr lang="en-GB"/>
              <a:t>Your title goes here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111453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026">
          <p15:clr>
            <a:srgbClr val="9FCC3B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F85877F-1641-1A93-437A-32243D79ED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50A705-C699-FE01-E855-559BB0A5AB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A6022-F720-A286-393C-780784BA9C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8C749D-BF2B-A949-B1F1-BD1E3733C78C}" type="datetimeFigureOut">
              <a:rPr lang="en-US" smtClean="0"/>
              <a:t>10/6/26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D39BD5-805A-39FC-8457-7F131F4F912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C93D42-17C3-F284-69AD-B6ED0DF6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BA64AD6-DD22-4045-BAAF-9E0945B0F73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3770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547D3A3-2F71-E32D-3749-398D3B131D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1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FCE7C80A-BEA4-E6E4-D146-CE024881DF52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6180" y="1484244"/>
          <a:ext cx="11341098" cy="470595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2376">
                  <a:extLst>
                    <a:ext uri="{9D8B030D-6E8A-4147-A177-3AD203B41FA5}">
                      <a16:colId xmlns:a16="http://schemas.microsoft.com/office/drawing/2014/main" val="1143793224"/>
                    </a:ext>
                  </a:extLst>
                </a:gridCol>
                <a:gridCol w="1139687">
                  <a:extLst>
                    <a:ext uri="{9D8B030D-6E8A-4147-A177-3AD203B41FA5}">
                      <a16:colId xmlns:a16="http://schemas.microsoft.com/office/drawing/2014/main" val="4239578873"/>
                    </a:ext>
                  </a:extLst>
                </a:gridCol>
                <a:gridCol w="1019035">
                  <a:extLst>
                    <a:ext uri="{9D8B030D-6E8A-4147-A177-3AD203B41FA5}">
                      <a16:colId xmlns:a16="http://schemas.microsoft.com/office/drawing/2014/main" val="2274821989"/>
                    </a:ext>
                  </a:extLst>
                </a:gridCol>
              </a:tblGrid>
              <a:tr h="1141039">
                <a:tc>
                  <a:txBody>
                    <a:bodyPr/>
                    <a:lstStyle/>
                    <a:p>
                      <a:r>
                        <a:rPr lang="en-US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Concerning the people aspect of DevOps: Adopting DevOps requires the leaders of the organization to work with their teams to create a DevOps Culture. Which of the following should be encouraged? (Multiple answers allowed)</a:t>
                      </a:r>
                      <a:r>
                        <a:rPr lang="en-GB" sz="18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endParaRPr lang="en-US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My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Team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705288"/>
                  </a:ext>
                </a:extLst>
              </a:tr>
              <a:tr h="798728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A. Collaboration across roles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768800"/>
                  </a:ext>
                </a:extLst>
              </a:tr>
              <a:tr h="92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B. Reward developers for new features delivered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23751"/>
                  </a:ext>
                </a:extLst>
              </a:tr>
              <a:tr h="92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C. Reward operations team for uptime and stability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98724"/>
                  </a:ext>
                </a:extLst>
              </a:tr>
              <a:tr h="92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/>
                        <a:t>D. Visibility into project’s goal and status</a:t>
                      </a:r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395835"/>
                  </a:ext>
                </a:extLst>
              </a:tr>
            </a:tbl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1F14CBDF-132B-708A-674F-90C34F401B8D}"/>
              </a:ext>
            </a:extLst>
          </p:cNvPr>
          <p:cNvSpPr txBox="1">
            <a:spLocks/>
          </p:cNvSpPr>
          <p:nvPr/>
        </p:nvSpPr>
        <p:spPr>
          <a:xfrm>
            <a:off x="965618" y="217797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DevOps Check -in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65786CD-44A6-C118-CD36-4C6335BF46B5}"/>
              </a:ext>
            </a:extLst>
          </p:cNvPr>
          <p:cNvSpPr txBox="1"/>
          <p:nvPr/>
        </p:nvSpPr>
        <p:spPr>
          <a:xfrm>
            <a:off x="785395" y="941638"/>
            <a:ext cx="675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kern="150">
                <a:latin typeface="CMR10"/>
                <a:ea typeface="NSimSun" panose="02010609030101010101" pitchFamily="49" charset="-122"/>
                <a:cs typeface="Lucida Sans" panose="020B0602030504020204" pitchFamily="34" charset="77"/>
              </a:rPr>
              <a:t>Instruction: Distribute 4 points across A-D. </a:t>
            </a:r>
            <a:endParaRPr lang="en-GB" sz="2800" kern="150">
              <a:effectLst/>
              <a:latin typeface="Liberation Serif"/>
              <a:ea typeface="NSimSun" panose="02010609030101010101" pitchFamily="49" charset="-122"/>
              <a:cs typeface="Lucida Sans" panose="020B0602030504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58314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7D9FA5-B8C8-063D-D09A-22EC4204F4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9B4294-62A7-94DC-B10E-14535ADD8C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20EACED-CA5D-B048-836B-BF30EF0E914A}" type="slidenum">
              <a:rPr lang="en-US" smtClean="0"/>
              <a:pPr/>
              <a:t>2</a:t>
            </a:fld>
            <a:endParaRPr lang="en-US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0419A180-6BEF-F34A-6748-39BB175E3135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306180" y="1484244"/>
          <a:ext cx="11341098" cy="482163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82376">
                  <a:extLst>
                    <a:ext uri="{9D8B030D-6E8A-4147-A177-3AD203B41FA5}">
                      <a16:colId xmlns:a16="http://schemas.microsoft.com/office/drawing/2014/main" val="1143793224"/>
                    </a:ext>
                  </a:extLst>
                </a:gridCol>
                <a:gridCol w="1139687">
                  <a:extLst>
                    <a:ext uri="{9D8B030D-6E8A-4147-A177-3AD203B41FA5}">
                      <a16:colId xmlns:a16="http://schemas.microsoft.com/office/drawing/2014/main" val="4239578873"/>
                    </a:ext>
                  </a:extLst>
                </a:gridCol>
                <a:gridCol w="1019035">
                  <a:extLst>
                    <a:ext uri="{9D8B030D-6E8A-4147-A177-3AD203B41FA5}">
                      <a16:colId xmlns:a16="http://schemas.microsoft.com/office/drawing/2014/main" val="2274821989"/>
                    </a:ext>
                  </a:extLst>
                </a:gridCol>
              </a:tblGrid>
              <a:tr h="1141039">
                <a:tc>
                  <a:txBody>
                    <a:bodyPr/>
                    <a:lstStyle/>
                    <a:p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It is important to identify bottlenecks in the delivery pipeline. Which of the following is </a:t>
                      </a:r>
                      <a:r>
                        <a:rPr lang="en-US" sz="1800" kern="1200" dirty="0">
                          <a:solidFill>
                            <a:srgbClr val="FF0000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not ones </a:t>
                      </a:r>
                      <a:r>
                        <a:rPr lang="en-US" sz="1800" kern="1200" dirty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of the biggest sources of inefficiencies in the delivery pipeline?</a:t>
                      </a:r>
                      <a:r>
                        <a:rPr lang="en-GB" dirty="0">
                          <a:effectLst/>
                        </a:rPr>
                        <a:t> 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My points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>
                          <a:solidFill>
                            <a:schemeClr val="tx1"/>
                          </a:solidFill>
                        </a:rPr>
                        <a:t>Team points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97705288"/>
                  </a:ext>
                </a:extLst>
              </a:tr>
              <a:tr h="798728">
                <a:tc>
                  <a:txBody>
                    <a:bodyPr/>
                    <a:lstStyle/>
                    <a:p>
                      <a:r>
                        <a:rPr lang="en-US"/>
                        <a:t>A. 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Unnecessary overhead (having to repeatedly communicate the same information</a:t>
                      </a:r>
                      <a:endParaRPr lang="en-GB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and knowledge)</a:t>
                      </a:r>
                      <a:r>
                        <a:rPr lang="en-GB">
                          <a:effectLst/>
                        </a:rPr>
                        <a:t> </a:t>
                      </a:r>
                      <a:endParaRPr lang="en-US"/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23768800"/>
                  </a:ext>
                </a:extLst>
              </a:tr>
              <a:tr h="922064">
                <a:tc>
                  <a:txBody>
                    <a:bodyPr/>
                    <a:lstStyle/>
                    <a:p>
                      <a:r>
                        <a:rPr lang="en-US"/>
                        <a:t>B. 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Unnecessary rework (defects being uncovered in testing or production forcing</a:t>
                      </a:r>
                      <a:endParaRPr lang="en-GB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assignments back to the development team)</a:t>
                      </a:r>
                      <a:r>
                        <a:rPr lang="en-GB">
                          <a:effectLst/>
                        </a:rPr>
                        <a:t> </a:t>
                      </a:r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21223751"/>
                  </a:ext>
                </a:extLst>
              </a:tr>
              <a:tr h="922064">
                <a:tc>
                  <a:txBody>
                    <a:bodyPr/>
                    <a:lstStyle/>
                    <a:p>
                      <a:r>
                        <a:rPr lang="en-US"/>
                        <a:t>C. </a:t>
                      </a:r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Unnecessary planning (too short sprints that makes the ratio between working</a:t>
                      </a:r>
                      <a:endParaRPr lang="en-GB" sz="1800" kern="1200">
                        <a:solidFill>
                          <a:schemeClr val="dk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  <a:p>
                      <a:r>
                        <a:rPr lang="en-US" sz="1800" kern="120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effort and planning effort inefficient)</a:t>
                      </a:r>
                      <a:r>
                        <a:rPr lang="en-GB">
                          <a:effectLst/>
                        </a:rPr>
                        <a:t> </a:t>
                      </a:r>
                      <a:endParaRPr lang="en-US"/>
                    </a:p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198724"/>
                  </a:ext>
                </a:extLst>
              </a:tr>
              <a:tr h="922064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D. </a:t>
                      </a:r>
                      <a:r>
                        <a:rPr lang="en-US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Over-production (functionality developed that wasn’t required</a:t>
                      </a:r>
                      <a:r>
                        <a:rPr lang="en-GB" sz="180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)</a:t>
                      </a:r>
                      <a:endParaRPr lang="en-US" dirty="0"/>
                    </a:p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23395835"/>
                  </a:ext>
                </a:extLst>
              </a:tr>
            </a:tbl>
          </a:graphicData>
        </a:graphic>
      </p:graphicFrame>
      <p:sp>
        <p:nvSpPr>
          <p:cNvPr id="8" name="Title 3">
            <a:extLst>
              <a:ext uri="{FF2B5EF4-FFF2-40B4-BE49-F238E27FC236}">
                <a16:creationId xmlns:a16="http://schemas.microsoft.com/office/drawing/2014/main" id="{D438238C-EC9E-F0B1-3C93-F0507AC1FF3B}"/>
              </a:ext>
            </a:extLst>
          </p:cNvPr>
          <p:cNvSpPr txBox="1">
            <a:spLocks/>
          </p:cNvSpPr>
          <p:nvPr/>
        </p:nvSpPr>
        <p:spPr>
          <a:xfrm>
            <a:off x="965618" y="217797"/>
            <a:ext cx="10440987" cy="900000"/>
          </a:xfrm>
          <a:prstGeom prst="rect">
            <a:avLst/>
          </a:prstGeom>
        </p:spPr>
        <p:txBody>
          <a:bodyPr vert="horz" lIns="0" tIns="216000" rIns="0" bIns="144000" rtlCol="0" anchor="t" anchorCtr="0">
            <a:norm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000" b="1" kern="1200">
                <a:solidFill>
                  <a:schemeClr val="tx1"/>
                </a:solidFill>
                <a:latin typeface="Georgia" panose="02040502050405020303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DevOps Check -in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884253-A38B-E3EF-A17A-D51B08A322AC}"/>
              </a:ext>
            </a:extLst>
          </p:cNvPr>
          <p:cNvSpPr txBox="1"/>
          <p:nvPr/>
        </p:nvSpPr>
        <p:spPr>
          <a:xfrm>
            <a:off x="785395" y="941638"/>
            <a:ext cx="6751982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kern="150">
                <a:latin typeface="CMR10"/>
                <a:ea typeface="NSimSun" panose="02010609030101010101" pitchFamily="49" charset="-122"/>
                <a:cs typeface="Lucida Sans" panose="020B0602030504020204" pitchFamily="34" charset="77"/>
              </a:rPr>
              <a:t>Instruction: Distribute 4 points across A-D. </a:t>
            </a:r>
            <a:endParaRPr lang="en-GB" sz="2800" kern="150">
              <a:effectLst/>
              <a:latin typeface="Liberation Serif"/>
              <a:ea typeface="NSimSun" panose="02010609030101010101" pitchFamily="49" charset="-122"/>
              <a:cs typeface="Lucida Sans" panose="020B0602030504020204" pitchFamily="34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7076425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318</Words>
  <Application>Microsoft Macintosh PowerPoint</Application>
  <PresentationFormat>Widescreen</PresentationFormat>
  <Paragraphs>30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CMR10</vt:lpstr>
      <vt:lpstr>Liberation Serif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Marjahan Begum (staff)</dc:creator>
  <cp:lastModifiedBy>Marjahan Begum (staff)</cp:lastModifiedBy>
  <cp:revision>1</cp:revision>
  <dcterms:created xsi:type="dcterms:W3CDTF">2026-10-06T12:29:47Z</dcterms:created>
  <dcterms:modified xsi:type="dcterms:W3CDTF">2026-10-06T12:31:47Z</dcterms:modified>
</cp:coreProperties>
</file>