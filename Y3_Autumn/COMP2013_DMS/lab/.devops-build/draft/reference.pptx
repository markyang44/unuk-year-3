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2851350fba4653" /><Relationship Type="http://schemas.openxmlformats.org/officeDocument/2006/relationships/extended-properties" Target="/docProps/app.xml" Id="Re9c13b2539fc407b" /><Relationship Type="http://schemas.openxmlformats.org/officeDocument/2006/relationships/officeDocument" Target="/ppt/presentation.xml" Id="R5188c698769b4a04" /></Relationships>
</file>

<file path=ppt/presentation.xml><?xml version="1.0" encoding="utf-8"?>
<p:presentation xmlns:p="http://schemas.openxmlformats.org/presentationml/2006/main">
  <p:sldMasterIdLst>
    <p:sldMasterId xmlns:r="http://schemas.openxmlformats.org/officeDocument/2006/relationships" id="2147483648" r:id="R9f6dd014016f468c"/>
  </p:sldMasterIdLst>
  <p:notesMasterIdLst>
    <p:notesMasterId xmlns:r="http://schemas.openxmlformats.org/officeDocument/2006/relationships" r:id="Rca51b2b3eb3241b9"/>
  </p:notesMasterIdLst>
  <p:sldIdLst>
    <p:sldId xmlns:r="http://schemas.openxmlformats.org/officeDocument/2006/relationships" id="256" r:id="Rc9d994406ff14312"/>
    <p:sldId xmlns:r="http://schemas.openxmlformats.org/officeDocument/2006/relationships" id="257" r:id="R7e8d2534f0ea449b"/>
    <p:sldId xmlns:r="http://schemas.openxmlformats.org/officeDocument/2006/relationships" id="258" r:id="R2ac152b08908413e"/>
    <p:sldId xmlns:r="http://schemas.openxmlformats.org/officeDocument/2006/relationships" id="259" r:id="R03c1f1bbedf547a0"/>
    <p:sldId xmlns:r="http://schemas.openxmlformats.org/officeDocument/2006/relationships" id="260" r:id="Rdeee1afbd89a4799"/>
    <p:sldId xmlns:r="http://schemas.openxmlformats.org/officeDocument/2006/relationships" id="261" r:id="R01935a5053d34176"/>
    <p:sldId xmlns:r="http://schemas.openxmlformats.org/officeDocument/2006/relationships" id="262" r:id="Rab92f0363bb64332"/>
    <p:sldId xmlns:r="http://schemas.openxmlformats.org/officeDocument/2006/relationships" id="263" r:id="Rea872b3a25c34293"/>
    <p:sldId xmlns:r="http://schemas.openxmlformats.org/officeDocument/2006/relationships" id="264" r:id="R622647dfcbaa4590"/>
    <p:sldId xmlns:r="http://schemas.openxmlformats.org/officeDocument/2006/relationships" id="265" r:id="R0327de952faa4f12"/>
    <p:sldId xmlns:r="http://schemas.openxmlformats.org/officeDocument/2006/relationships" id="266" r:id="Rb39740ff815849a8"/>
    <p:sldId xmlns:r="http://schemas.openxmlformats.org/officeDocument/2006/relationships" id="267" r:id="Raa88d08182054109"/>
    <p:sldId xmlns:r="http://schemas.openxmlformats.org/officeDocument/2006/relationships" id="268" r:id="R4ac82795e0a14666"/>
    <p:sldId xmlns:r="http://schemas.openxmlformats.org/officeDocument/2006/relationships" id="269" r:id="R7815319f5a7e44a3"/>
    <p:sldId xmlns:r="http://schemas.openxmlformats.org/officeDocument/2006/relationships" id="270" r:id="Re86a79427b6a42f2"/>
    <p:sldId xmlns:r="http://schemas.openxmlformats.org/officeDocument/2006/relationships" id="271" r:id="R3d1ee68e52724dd1"/>
    <p:sldId xmlns:r="http://schemas.openxmlformats.org/officeDocument/2006/relationships" id="272" r:id="R907b61dcffff4acb"/>
    <p:sldId xmlns:r="http://schemas.openxmlformats.org/officeDocument/2006/relationships" id="273" r:id="R70dd85586f6c44d5"/>
    <p:sldId xmlns:r="http://schemas.openxmlformats.org/officeDocument/2006/relationships" id="274" r:id="Rdfeca9b82c574073"/>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0df94a985ff47fb" /><Relationship Type="http://schemas.openxmlformats.org/officeDocument/2006/relationships/slideMaster" Target="/ppt/slideMasters/slideMaster1.xml" Id="R9f6dd014016f468c" /><Relationship Type="http://schemas.openxmlformats.org/officeDocument/2006/relationships/notesMaster" Target="/ppt/notesMasters/notesMaster1.xml" Id="Rca51b2b3eb3241b9" /><Relationship Type="http://schemas.openxmlformats.org/officeDocument/2006/relationships/presProps" Target="/ppt/presProps.xml" Id="R94de9d24e5c340cb" /><Relationship Type="http://schemas.openxmlformats.org/officeDocument/2006/relationships/viewProps" Target="/ppt/viewProps.xml" Id="R71e9865029b24555" /><Relationship Type="http://schemas.openxmlformats.org/officeDocument/2006/relationships/tableStyles" Target="/ppt/tableStyles.xml" Id="R5d069061b3b34d20" /><Relationship Type="http://schemas.openxmlformats.org/officeDocument/2006/relationships/slide" Target="/ppt/slides/slide1.xml" Id="Rc9d994406ff14312" /><Relationship Type="http://schemas.openxmlformats.org/officeDocument/2006/relationships/slide" Target="/ppt/slides/slide2.xml" Id="R7e8d2534f0ea449b" /><Relationship Type="http://schemas.openxmlformats.org/officeDocument/2006/relationships/slide" Target="/ppt/slides/slide3.xml" Id="R2ac152b08908413e" /><Relationship Type="http://schemas.openxmlformats.org/officeDocument/2006/relationships/slide" Target="/ppt/slides/slide4.xml" Id="R03c1f1bbedf547a0" /><Relationship Type="http://schemas.openxmlformats.org/officeDocument/2006/relationships/slide" Target="/ppt/slides/slide5.xml" Id="Rdeee1afbd89a4799" /><Relationship Type="http://schemas.openxmlformats.org/officeDocument/2006/relationships/slide" Target="/ppt/slides/slide6.xml" Id="R01935a5053d34176" /><Relationship Type="http://schemas.openxmlformats.org/officeDocument/2006/relationships/slide" Target="/ppt/slides/slide7.xml" Id="Rab92f0363bb64332" /><Relationship Type="http://schemas.openxmlformats.org/officeDocument/2006/relationships/slide" Target="/ppt/slides/slide8.xml" Id="Rea872b3a25c34293" /><Relationship Type="http://schemas.openxmlformats.org/officeDocument/2006/relationships/slide" Target="/ppt/slides/slide9.xml" Id="R622647dfcbaa4590" /><Relationship Type="http://schemas.openxmlformats.org/officeDocument/2006/relationships/slide" Target="/ppt/slides/slide10.xml" Id="R0327de952faa4f12" /><Relationship Type="http://schemas.openxmlformats.org/officeDocument/2006/relationships/slide" Target="/ppt/slides/slide11.xml" Id="Rb39740ff815849a8" /><Relationship Type="http://schemas.openxmlformats.org/officeDocument/2006/relationships/slide" Target="/ppt/slides/slide12.xml" Id="Raa88d08182054109" /><Relationship Type="http://schemas.openxmlformats.org/officeDocument/2006/relationships/slide" Target="/ppt/slides/slide13.xml" Id="R4ac82795e0a14666" /><Relationship Type="http://schemas.openxmlformats.org/officeDocument/2006/relationships/slide" Target="/ppt/slides/slide14.xml" Id="R7815319f5a7e44a3" /><Relationship Type="http://schemas.openxmlformats.org/officeDocument/2006/relationships/slide" Target="/ppt/slides/slide15.xml" Id="Re86a79427b6a42f2" /><Relationship Type="http://schemas.openxmlformats.org/officeDocument/2006/relationships/slide" Target="/ppt/slides/slide16.xml" Id="R3d1ee68e52724dd1" /><Relationship Type="http://schemas.openxmlformats.org/officeDocument/2006/relationships/slide" Target="/ppt/slides/slide17.xml" Id="R907b61dcffff4acb" /><Relationship Type="http://schemas.openxmlformats.org/officeDocument/2006/relationships/slide" Target="/ppt/slides/slide18.xml" Id="R70dd85586f6c44d5" /><Relationship Type="http://schemas.openxmlformats.org/officeDocument/2006/relationships/slide" Target="/ppt/slides/slide19.xml" Id="Rdfeca9b82c5740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2b5c268bad43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3e56c3d20c4428" /><Relationship Type="http://schemas.openxmlformats.org/officeDocument/2006/relationships/notesMaster" Target="/ppt/notesMasters/notesMaster1.xml" Id="Rd66812b8d6fd4f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2e3739422a42ea" /><Relationship Type="http://schemas.openxmlformats.org/officeDocument/2006/relationships/notesMaster" Target="/ppt/notesMasters/notesMaster1.xml" Id="Receaa5d5c2b549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718b80e7064a9e" /><Relationship Type="http://schemas.openxmlformats.org/officeDocument/2006/relationships/notesMaster" Target="/ppt/notesMasters/notesMaster1.xml" Id="R88fefd4885fc4e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1eb2eee32b49ad" /><Relationship Type="http://schemas.openxmlformats.org/officeDocument/2006/relationships/notesMaster" Target="/ppt/notesMasters/notesMaster1.xml" Id="R8f540ebaef0648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aa03876ff94d9a" /><Relationship Type="http://schemas.openxmlformats.org/officeDocument/2006/relationships/notesMaster" Target="/ppt/notesMasters/notesMaster1.xml" Id="R7ddc6d914db446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a82b84e3554508" /><Relationship Type="http://schemas.openxmlformats.org/officeDocument/2006/relationships/notesMaster" Target="/ppt/notesMasters/notesMaster1.xml" Id="R62e3884d04964d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60e675685c4fb4" /><Relationship Type="http://schemas.openxmlformats.org/officeDocument/2006/relationships/notesMaster" Target="/ppt/notesMasters/notesMaster1.xml" Id="Rbf476ad0480044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ebd18f575c4b41" /><Relationship Type="http://schemas.openxmlformats.org/officeDocument/2006/relationships/notesMaster" Target="/ppt/notesMasters/notesMaster1.xml" Id="R69b8c0480def46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30c8ceb3104987" /><Relationship Type="http://schemas.openxmlformats.org/officeDocument/2006/relationships/notesMaster" Target="/ppt/notesMasters/notesMaster1.xml" Id="Rc72c00c7eb084a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09cdc7c02d4308" /><Relationship Type="http://schemas.openxmlformats.org/officeDocument/2006/relationships/notesMaster" Target="/ppt/notesMasters/notesMaster1.xml" Id="R14abfef7bbb94a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469b0fb40a42f0" /><Relationship Type="http://schemas.openxmlformats.org/officeDocument/2006/relationships/notesMaster" Target="/ppt/notesMasters/notesMaster1.xml" Id="R77c19f8a5c2444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e7bf8e29cb4517" /><Relationship Type="http://schemas.openxmlformats.org/officeDocument/2006/relationships/notesMaster" Target="/ppt/notesMasters/notesMaster1.xml" Id="R6581b81790344a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bd69e3da414c2b" /><Relationship Type="http://schemas.openxmlformats.org/officeDocument/2006/relationships/notesMaster" Target="/ppt/notesMasters/notesMaster1.xml" Id="Rd935654301c44b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65f1c3a2594126" /><Relationship Type="http://schemas.openxmlformats.org/officeDocument/2006/relationships/notesMaster" Target="/ppt/notesMasters/notesMaster1.xml" Id="R39ef3618955b473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1ddf310b5d453b" /><Relationship Type="http://schemas.openxmlformats.org/officeDocument/2006/relationships/notesMaster" Target="/ppt/notesMasters/notesMaster1.xml" Id="R0e44058c8c92421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1684cd54ba4fdf" /><Relationship Type="http://schemas.openxmlformats.org/officeDocument/2006/relationships/notesMaster" Target="/ppt/notesMasters/notesMaster1.xml" Id="R2cc96cab9b944a0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11ff43337f4f97" /><Relationship Type="http://schemas.openxmlformats.org/officeDocument/2006/relationships/notesMaster" Target="/ppt/notesMasters/notesMaster1.xml" Id="R8f8df710060e49b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a4498dceacc4c54" /><Relationship Type="http://schemas.openxmlformats.org/officeDocument/2006/relationships/notesMaster" Target="/ppt/notesMasters/notesMaster1.xml" Id="Red443feab86c4a2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2f56a995564c03" /><Relationship Type="http://schemas.openxmlformats.org/officeDocument/2006/relationships/notesMaster" Target="/ppt/notesMasters/notesMaster1.xml" Id="R95d3363313d548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case-study presentation. The case organization is hypothetical. The proposed actions, timing, allocations and targets are design choices, not observed results. Sources: [1] Lab 2 brief; [2] Lecture 02. The supplied template provides the presentation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names and IDs were provided by the user. No team name, number or contribution allocation was provided. Do not infer the three students are the organizational role owners in the transformation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[1], pp. 1-2. These are case facts. The three applications share some data through a common database; the brief does not say every table or service is shared. The organization diagram has CEO, Staff, Development, Test, Operations, Sales and other departments.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[1], pp. 1-2. This register separates given evidence from possible effects. C4 is a risk hypothesis: organizational separation does not by itself prove a blame culture. P1-P4 and L1-L3 are tracked through subsequent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pp. 1-2; [2], lecture slides 24, 26, 42-44. A1-A3 are explicit assumptions, not stated case facts. Week 1 interviews include representatives from all departments and the CEO; inspect current tools and incentives. If an adequate shared backlog exists, improve it rather than replace it. If incentives are already aligned, retain them. Knowledge creation: record competing perspectives in a value-stream map and shared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[1], pp. 1-2; [2], lecture slides 28, 37-38. A4-A5 are assumptions. Shared storage is a stated fact, but incompatible release conventions and breaking schema changes are not confirmed. P2 and P3 address these risks. Compatibility policy: add compatible columns or tables first, migrate callers, then remove old schema only when all applications are verified. Backups, restore rehearsals and contract tests are necessary before production changes. A complete database separation is not assumed achievable within 12 weeks.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[1], p. 2; [2], lecture slides 28-36, 58-60. Manual integration/acceptance testing and the Test-to-Ops handoff are given. Capacity limitations and manual deployment are assumptions. If deployment is already automated, retain it and document missing checks. A CI/CD platform alone does not solve the queue. Test specialists help developers create repeatable tests, then focus manual work on exploratory and user acceptance testing. Value-stream analysis should distinguish touch time from waiting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Task 2; [2], lecture slides 27-36 and 61. All numerical outcomes are proposed, not measured or promised. Compare representative changes, report sample counts and investigate small samples. The 12-week plan assumes CEO support, access to code/cloud systems and a suitable pilot; confirm in week 1. If these are absent, revise schedule before work begins. No company-wide development freeze is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Task 2; [2], lecture slides 24, 28-36, 44. P1 addresses C1 and C3. WIP=3 is a starting experiment, not a universal limit; adjust using queue data. Definition of done includes peer review, required automated checks, documented migration impact, release/rollback instructions and a monitoring owner. Department heads retain staffing and specialist standards; the cross-functional pilot squad owns delivery. Escalation: a blocked item older than one working day goes to the transformation lead. Daily 10-minute squad check, weekly 30-minute review. Record decisions outside email.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Task 2; [2], lecture slides 51-61. P2 addresses C2 and C3. GitHub Actions is a proposed tool choice, not a claim that the organization already uses it; retain an existing supported CI tool if adequate. Dev lead owns build and artifact traceability; Test lead owns risk-based regression selection and shared integration/acceptance checks. Use a dedicated test database with synthetic or sanitized data. Acceptance: a fresh checkout can build; deliberate test failures prevent artifact promotion; the same artifact is promoted from staging to production; reports are accessible to the squad. Target fast initial checks within 10 minutes, tune after observing the baseline. The knowledge produced by failing checks is converted into regression tests and troubleshooting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Task 2; [2], lecture slides 54-61. P3 addresses C2 and C3. Appoint a database owner from Ops in week 1, with Dev/Test contributors. Terraform is a proposal, not a requirement or claim about current infrastructure. Concrete pilot guardrail proposal: stop promotion/rollback when application error rate exceeds 1% for 5 minutes, or p95 latency rises &gt;20% above the measured pre-release baseline for 10 minutes. Ops and Sales must calibrate guardrails to traffic and service requirements before the first production release. Use recorded health checks when traffic is low. Do not claim those thresholds suit every app. Rollback objective: restore the last known-good app artifact within 10 minutes in a drill. Data recovery follows a separate backup/restore procedure; record backup completion, recovery point and restore duration. Acceptance requires all three applications passing schema compatibility tests and two successful staging deployment/rollback drills. The first live pilot release requires P2 and P3 acceptance plus a tested runbook.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Tasks 2-3; [2], lecture slides 38-44 and 61. P4 is the Second Way and supports knowledge creation. Start collection in weeks 1-2, retain dashboards throughout rollout. Use Cloud Monitoring or existing supported monitoring, a versioned release log and shared review notes. CEO and squad review delivery/reliability together rather than reward feature count alone. Track test queue time and blocked-item age to check whether work merely moved between queues. Definitions are consistent within this presentation. Production recovery time and a planned rollback drill are different measurements. Report change failure rate as a fraction with sample counts, especially for low deployment frequency. These are design targets, not historical evidence. Baseline sources/coverage should be documented; do not invent missing timestamps.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[1], Task 2; [2], lecture slides 28-36, 44, 61. Proposed allocation equals 2.2 FTE excluding the Sales owner, assuming the four pilot members each contribute 0.5 FTE plus the 0.2 FTE transformation lead. Role owners are company staff, not the three students. Week 1 CEO appoints accountable leads and agrees the budget cap for staging/tool use; Ops reports usage weekly. This reduces available feature capacity and should be reflected in the Sales backlog, rather than hiding the cost. Existing teams and departments remain in place during the pilot. Acceptance before onboarding: pilot ran for two weeks, metrics are recorded, no unresolved severe release-caused incident, checks and runbooks are understood by the receiving team. Rollout dates are conditional. Task 3 revises the sequence to add learning early, not after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Task 3; [2], lecture slides 42-44. This is an explicit positive and negative evaluation of each original P1-P4 plan element. Consequences motivate operational changes, not just an added slogan. Do not infer that a separated organization has a proven punitive culture. CEO should test whether staff can raise mistakes safely, whether information is shared and whether reward systems conflict. Original week-6 release gates stay in place; delegate only reversible low-risk non-production experiments before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Task 3; [2], lecture slides 42-44. L1-L3 add the Third Way. The 10% learning time is carved from the allocated pilot time in Task 2, not extra uncompensated work. The transformation lead protects it in the backlog. Example experiment: hypothesis that running integration tests per merge reduces test queue time; baseline first, trial for two weeks, compare queue age and defects, revert if checks become unreliable or queue age rises. Second experiment: WIP 3 versus WIP 2 using comparable work; adopt only if lead time improves without more incidents. Use a staging failure drill after P3 recovery rehearsal; no unsupervised production failure injection. Experiment records contain both supportive and contrary evidence. Near-miss reviews ensure learning continues when there are no live incidents.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Task 3 CEO questions; [2], lecture slides 42-44. The cultural diagnosis is conditional: if A3 is true, replace conflicting feature-only/uptime-only incentives; if not, reinforce existing shared incentives. CEO opens reviews by asking what the system made difficult, rather than who caused failure. Transformation lead uses a brief anonymous trust survey at baseline and monthly, e.g. whether people can raise mistakes safely; discuss aggregated themes. Dev/Test leads maintain a searchable learning index. Each new finding links to an owner, change and adoption evidence. Measure organizational learning through reuse and resolved action items, not document volume. Pairing creates individual knowledge; standardized tests and runbooks retain it after people move between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Task 3 final iteration; [2], lecture slides 27-44 and 61. This final timeline supersedes the initial sequence where the Third Way had not been protected explicitly. Change in content: add L1-L3 and the culture/knowledge mechanism. Change in sequencing: trust and learning allocation in weeks 1-2, no-blame reviews/pairing in weeks 3-5, evidence-based scaling in weeks 9-12. Change in effort: reserve 10% of allocated pilot capacity for learning. Change in involved people: CEO models culture, Sales supplies feedback, specialist leads transfer learning across all teams. P1-P4 release and rollout gates remain binding. Delay scaling if severe incident actions remain open or the pilot is not stable; do not use the calendar alone as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Tasks 2-3; [2], lecture slides 24, 28-44, 61. Operational handover means an identified person can follow the documented steps, not only understand the idea. Each pack item has a role owner: transformation lead owns charter/map/WIP; Dev lead CI; Test lead regression/schema test suite; database owner migrations and recovery; Ops lead release/restore/alerts; Sales owner prioritized backlog; Dev/Test leads learning index. Dry-run handover: the receiving team performs a staging release without the original author doing the steps, using the documentation; record gaps and repair them. Week 12 acceptance checks proposed targets, stability and learning reuse, with no claim that outcomes are guaranteed. For this exercise the brief permits assuming implemented practices function as described, but metrics are still presented as targets rather than fabricated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files: [1] /Users/markyang/Projects/UNUK-Year-3/Y3_Autumn/COMP2013_DMS/lab/Lab 2 DevOps.pdf; [2] /Users/markyang/Projects/UNUK-Year-3/Y3_Autumn/COMP2013_DMS/COMP2013 - Lecture 02Final.pdf; [3] supplied layout /Users/markyang/Projects/UNUK-Year-3/Y3_Autumn/COMP2013_DMS/lab/DevOps Template.pptx. Lecture slide numbers refer to the original numbered lecture slides, not the appended revision summary. The Lab brief asks for chapters 1-2; Lecture 02 suggests chapters 1-3. Recommended book: Gene Kim, Jez Humble, Patrick Debois and John Willis, The DevOps Handbook: How to Create World-Class Agility, Reliability, &amp; Security in Technology Organizations. The book was not accessed; no content or direct quotation is attributed to it. This deck uses supplied/local classroom evidence and reasoned proposals. Complete team administrative details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9f5d6ec4ae47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329f94ce0c40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fbae78713642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e1608e1dd24d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c0d73a40d0440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86582a92cf481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2f5277e1bd447c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993352c85194ac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b9ccc65f57040f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0efb8967f224cd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0153bbb6a84401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CC16C3-E9D4-684E-CEA3-4D81EF55E351}"/>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069C750C-C3C5-955F-B256-6EC06564985A}"/>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83565C6-0A8C-BDC8-44F2-10E3174058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BB610DAC-B666-27EC-0493-5FA0AC618B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BF139F4-17D9-B78B-D993-65026F7DA9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32AB60-9D75-5A04-D69C-5B210535ADC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35C28F6-A99A-492B-ACD9-A575DD049B3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0B21BF-3616-7CB0-78F3-2CF993C64D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EF59995E-0593-9853-8F6F-20E7468631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1CB4A2D-4FE0-64D5-C16F-C214D627E30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9DD3B3-FA74-E392-68C4-EC69EAAC533C}"/>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705A364-00B0-67A3-8230-A5899977C1A9}"/>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46EF9F4-CD94-6140-3A6A-005B0F39DB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B1039264-7119-3BD0-2682-E227F88592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F61736-3791-1C9B-6567-0964308633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2DCA55-5186-5744-1AB2-3A8E4921DD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A5C4B1B-E74B-4600-C026-39B69ED92B80}"/>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68C55E4-1E19-46E5-8995-0B22E2A887C9}"/>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F36685F0-B1E6-6F5A-7CD4-1C0DC98E2C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6" name="Footer Placeholder 5">
            <a:extLst xmlns:a="http://schemas.openxmlformats.org/drawingml/2006/main">
              <a:ext uri="{FF2B5EF4-FFF2-40B4-BE49-F238E27FC236}">
                <a16:creationId xmlns:a16="http://schemas.microsoft.com/office/drawing/2014/main" id="{AED55EF8-610B-04D4-E314-093E2B6348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1DC8979-F44D-F9F7-D694-34DB23E62A0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1C553E-ABCF-5549-017A-86F5C8B4F43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B442E4B-2B85-E630-ADF9-793E210A1F43}"/>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BD7899F-67F6-2447-8932-75AB29E5E02D}"/>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EBBCC0A-30FD-84B8-B301-982100B2F297}"/>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D310983-8CED-4181-3762-9350E4FE9FE0}"/>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99F8489F-8B0F-A8BF-6AB4-6CE5707503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8" name="Footer Placeholder 7">
            <a:extLst xmlns:a="http://schemas.openxmlformats.org/drawingml/2006/main">
              <a:ext uri="{FF2B5EF4-FFF2-40B4-BE49-F238E27FC236}">
                <a16:creationId xmlns:a16="http://schemas.microsoft.com/office/drawing/2014/main" id="{EE8C6218-236F-D060-D13A-AA50D7530A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3648CEA9-47B3-E74F-8CC0-C4E2283887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6C21C6-680B-1DB1-205A-C774975DB86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4C0788E-5258-167F-DBBB-49361F3123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4" name="Footer Placeholder 3">
            <a:extLst xmlns:a="http://schemas.openxmlformats.org/drawingml/2006/main">
              <a:ext uri="{FF2B5EF4-FFF2-40B4-BE49-F238E27FC236}">
                <a16:creationId xmlns:a16="http://schemas.microsoft.com/office/drawing/2014/main" id="{D4683403-0927-5B1A-F52C-EC7427E14E7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95CAC72-6E75-9BE4-A60C-694FB56F6E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A8AF9F2-276D-0955-537B-F18BE2370BD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3" name="Footer Placeholder 2">
            <a:extLst xmlns:a="http://schemas.openxmlformats.org/drawingml/2006/main">
              <a:ext uri="{FF2B5EF4-FFF2-40B4-BE49-F238E27FC236}">
                <a16:creationId xmlns:a16="http://schemas.microsoft.com/office/drawing/2014/main" id="{94C9CA2C-C112-E350-DFAE-86A86E9A55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D7381A8-45E8-B45E-1771-BC911B45DE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F561AC-1358-C820-312A-A8370209A5E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5B7E6F4-A558-EC99-690B-19D0F15751CC}"/>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7266F303-7580-5898-6C19-95183CD690E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99E74A2-0D12-A8A1-A3FE-D793D20C99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6" name="Footer Placeholder 5">
            <a:extLst xmlns:a="http://schemas.openxmlformats.org/drawingml/2006/main">
              <a:ext uri="{FF2B5EF4-FFF2-40B4-BE49-F238E27FC236}">
                <a16:creationId xmlns:a16="http://schemas.microsoft.com/office/drawing/2014/main" id="{B4B0CEC3-2770-E269-0EBF-963EBB1BE84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B42AA51-3C9F-86CD-D938-73ACAF3C4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3B49C1-65E5-BA6F-D72F-A038F1C5D59F}"/>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F306401-5010-C563-B75C-BA323162D74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E886C81-D680-3DE8-9873-3C39A435D6B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B2D0B6D-0C26-2229-DB24-5B0227F2C0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6" name="Footer Placeholder 5">
            <a:extLst xmlns:a="http://schemas.openxmlformats.org/drawingml/2006/main">
              <a:ext uri="{FF2B5EF4-FFF2-40B4-BE49-F238E27FC236}">
                <a16:creationId xmlns:a16="http://schemas.microsoft.com/office/drawing/2014/main" id="{888604C8-5064-C91F-C6D7-F83D6045F9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D125E0B-DA26-F8BB-0F64-CDC614225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EABB9B-6CA8-CF81-DC08-72C3C841790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C3E6C892-9FDE-4423-321D-FEB0888C23B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D1BFA06-8A03-FFD0-A469-6EBCAE09D2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C4D1DE89-584D-6389-75A3-99854621A5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60AA8B0-1448-772B-2956-0103BD925A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60297CF-4FD0-7F46-AB4C-4ECCDB6CCEB2}"/>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3EA2620-A32E-096E-5108-BB6AA6BB7A18}"/>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19719A0-2B52-6397-F76A-80D66FAAAB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0D6158B6-63AA-BC1F-4CF0-38B9641CFB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F7DE12A-15DC-01AB-1D44-4A4446BF7E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4aaf0393404c59" /><Relationship Type="http://schemas.openxmlformats.org/officeDocument/2006/relationships/slideLayout" Target="/ppt/slideLayouts/slideLayout1.xml" Id="Ra7d654b6b3ab45b8" /><Relationship Type="http://schemas.openxmlformats.org/officeDocument/2006/relationships/slideLayout" Target="/ppt/slideLayouts/slideLayout2.xml" Id="R2f826bd18687435b" /><Relationship Type="http://schemas.openxmlformats.org/officeDocument/2006/relationships/slideLayout" Target="/ppt/slideLayouts/slideLayout3.xml" Id="Rf72e0ff432b544f2" /><Relationship Type="http://schemas.openxmlformats.org/officeDocument/2006/relationships/slideLayout" Target="/ppt/slideLayouts/slideLayout4.xml" Id="R0550138947634c3f" /><Relationship Type="http://schemas.openxmlformats.org/officeDocument/2006/relationships/slideLayout" Target="/ppt/slideLayouts/slideLayout5.xml" Id="R0672db4e597a4b55" /><Relationship Type="http://schemas.openxmlformats.org/officeDocument/2006/relationships/slideLayout" Target="/ppt/slideLayouts/slideLayout6.xml" Id="R6b71c57094c24375" /><Relationship Type="http://schemas.openxmlformats.org/officeDocument/2006/relationships/slideLayout" Target="/ppt/slideLayouts/slideLayout7.xml" Id="Rf8892086b97c4b00" /><Relationship Type="http://schemas.openxmlformats.org/officeDocument/2006/relationships/slideLayout" Target="/ppt/slideLayouts/slideLayout8.xml" Id="Rb124fdab3ded4098" /><Relationship Type="http://schemas.openxmlformats.org/officeDocument/2006/relationships/slideLayout" Target="/ppt/slideLayouts/slideLayout9.xml" Id="R923e7810825c449e" /><Relationship Type="http://schemas.openxmlformats.org/officeDocument/2006/relationships/slideLayout" Target="/ppt/slideLayouts/slideLayout10.xml" Id="R30a1f63620ad4838" /><Relationship Type="http://schemas.openxmlformats.org/officeDocument/2006/relationships/slideLayout" Target="/ppt/slideLayouts/slideLayout11.xml" Id="R82093bdff6664d9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DF1C05A-4449-6309-C948-CAFF08EE479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C8BFBF9-5B8C-7B82-F4E0-12153A145A2B}"/>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26D4EFA-0439-D2DB-381B-3ECCFAA1067B}"/>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420C478F-77DE-D959-368B-542AFCC55BC7}"/>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1258298-5DE9-F736-1A41-0FFCBAAB25D2}"/>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699C9B7F-0499-D94D-B9C5-6B0F64CF2F75}"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d654b6b3ab45b8"/>
    <p:sldLayoutId xmlns:r="http://schemas.openxmlformats.org/officeDocument/2006/relationships" id="2147483650" r:id="R2f826bd18687435b"/>
    <p:sldLayoutId xmlns:r="http://schemas.openxmlformats.org/officeDocument/2006/relationships" id="2147483651" r:id="Rf72e0ff432b544f2"/>
    <p:sldLayoutId xmlns:r="http://schemas.openxmlformats.org/officeDocument/2006/relationships" id="2147483652" r:id="R0550138947634c3f"/>
    <p:sldLayoutId xmlns:r="http://schemas.openxmlformats.org/officeDocument/2006/relationships" id="2147483653" r:id="R0672db4e597a4b55"/>
    <p:sldLayoutId xmlns:r="http://schemas.openxmlformats.org/officeDocument/2006/relationships" id="2147483654" r:id="R6b71c57094c24375"/>
    <p:sldLayoutId xmlns:r="http://schemas.openxmlformats.org/officeDocument/2006/relationships" id="2147483655" r:id="Rf8892086b97c4b00"/>
    <p:sldLayoutId xmlns:r="http://schemas.openxmlformats.org/officeDocument/2006/relationships" id="2147483656" r:id="Rb124fdab3ded4098"/>
    <p:sldLayoutId xmlns:r="http://schemas.openxmlformats.org/officeDocument/2006/relationships" id="2147483657" r:id="R923e7810825c449e"/>
    <p:sldLayoutId xmlns:r="http://schemas.openxmlformats.org/officeDocument/2006/relationships" id="2147483658" r:id="R30a1f63620ad4838"/>
    <p:sldLayoutId xmlns:r="http://schemas.openxmlformats.org/officeDocument/2006/relationships" id="2147483659" r:id="R82093bdff6664d96"/>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0a6288ca964758" /><Relationship Type="http://schemas.openxmlformats.org/officeDocument/2006/relationships/notesSlide" Target="/ppt/notesSlides/notesSlide1.xml" Id="R321643fe545e4a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46099b937df40f9" /><Relationship Type="http://schemas.openxmlformats.org/officeDocument/2006/relationships/notesSlide" Target="/ppt/notesSlides/notesSlide2.xml" Id="R5950b92d158a4d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6f3215da3634a88" /><Relationship Type="http://schemas.openxmlformats.org/officeDocument/2006/relationships/notesSlide" Target="/ppt/notesSlides/notesSlide3.xml" Id="R11068c74019a42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914fb5e00b94feb" /><Relationship Type="http://schemas.openxmlformats.org/officeDocument/2006/relationships/notesSlide" Target="/ppt/notesSlides/notesSlide4.xml" Id="Raaa33ba10db749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c865e5a53d24b55" /><Relationship Type="http://schemas.openxmlformats.org/officeDocument/2006/relationships/notesSlide" Target="/ppt/notesSlides/notesSlide5.xml" Id="Rc0a5bc8975c443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dd4fd1b0cbb4edd" /><Relationship Type="http://schemas.openxmlformats.org/officeDocument/2006/relationships/notesSlide" Target="/ppt/notesSlides/notesSlide6.xml" Id="R119b49029e224f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4c81bf5c63a401e" /><Relationship Type="http://schemas.openxmlformats.org/officeDocument/2006/relationships/notesSlide" Target="/ppt/notesSlides/notesSlide7.xml" Id="R3dd18074ca7c4e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9bb3533f0ac4c55" /><Relationship Type="http://schemas.openxmlformats.org/officeDocument/2006/relationships/notesSlide" Target="/ppt/notesSlides/notesSlide8.xml" Id="Rdc46534a4c9349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58a48541d884242" /><Relationship Type="http://schemas.openxmlformats.org/officeDocument/2006/relationships/notesSlide" Target="/ppt/notesSlides/notesSlide9.xml" Id="Rb89a1765bf0b4a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8fd9f3124bd4496" /><Relationship Type="http://schemas.openxmlformats.org/officeDocument/2006/relationships/notesSlide" Target="/ppt/notesSlides/notesSlide10.xml" Id="R7f651d99f99d45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45df85f2f8e4c4f" /><Relationship Type="http://schemas.openxmlformats.org/officeDocument/2006/relationships/notesSlide" Target="/ppt/notesSlides/notesSlide11.xml" Id="Rb8a0dd29e3224e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e17eaf1e75b4b6c" /><Relationship Type="http://schemas.openxmlformats.org/officeDocument/2006/relationships/notesSlide" Target="/ppt/notesSlides/notesSlide12.xml" Id="R3d3ab83e35d645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b17f7289a674375" /><Relationship Type="http://schemas.openxmlformats.org/officeDocument/2006/relationships/notesSlide" Target="/ppt/notesSlides/notesSlide13.xml" Id="R0f4f4a040e9442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6ad34cdfeea4dee" /><Relationship Type="http://schemas.openxmlformats.org/officeDocument/2006/relationships/notesSlide" Target="/ppt/notesSlides/notesSlide14.xml" Id="R5306fb89c7204d9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d3e524179534a2c" /><Relationship Type="http://schemas.openxmlformats.org/officeDocument/2006/relationships/notesSlide" Target="/ppt/notesSlides/notesSlide15.xml" Id="Rcfd116cb7b704a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344928b88074361" /><Relationship Type="http://schemas.openxmlformats.org/officeDocument/2006/relationships/notesSlide" Target="/ppt/notesSlides/notesSlide16.xml" Id="R0c0d16f3ccab46b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42524ecf5a414cc4" /><Relationship Type="http://schemas.openxmlformats.org/officeDocument/2006/relationships/notesSlide" Target="/ppt/notesSlides/notesSlide17.xml" Id="R55a2e0970da64eb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fe5fc68dfbca4436" /><Relationship Type="http://schemas.openxmlformats.org/officeDocument/2006/relationships/notesSlide" Target="/ppt/notesSlides/notesSlide18.xml" Id="Rd9bcd684a15f47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12d5374cc62489f" /><Relationship Type="http://schemas.openxmlformats.org/officeDocument/2006/relationships/notesSlide" Target="/ppt/notesSlides/notesSlide19.xml" Id="R324979a54310402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4CBBCF-B891-4284-C614-8E5F96FB70F2}"/>
              </a:ext>
            </a:extLst>
          </p:cNvPr>
          <p:cNvSpPr>
            <a:spLocks xmlns:a="http://schemas.openxmlformats.org/drawingml/2006/main" noGrp="1"/>
          </p:cNvSpPr>
          <p:nvPr>
            <p:ph type="ctrTitle" idx="0"/>
          </p:nvPr>
        </p:nvSpPr>
        <p:spPr/>
        <p:txBody>
          <a:bodyPr xmlns:a="http://schemas.openxmlformats.org/drawingml/2006/main" lIns="0" tIns="0" rIns="0" bIns="0" anchor="ctr">
            <a:noAutofit/>
          </a:bodyPr>
          <a:lstStyle xmlns:a="http://schemas.openxmlformats.org/drawingml/2006/main">
            <a:defPPr algn="ctr">
              <a:defRPr sz="6000" b="0">
                <a:solidFill>
                  <a:srgbClr val="000000"/>
                </a:solidFill>
                <a:latin typeface="Aptos Display"/>
                <a:ea typeface="Aptos Display"/>
                <a:cs typeface="Aptos Display"/>
              </a:defRPr>
            </a:defPPr>
          </a:lstStyle>
          <a:p xmlns:a="http://schemas.openxmlformats.org/drawingml/2006/main">
            <a:pPr algn="ctr">
              <a:defRPr sz="6000" b="0">
                <a:solidFill>
                  <a:srgbClr val="000000"/>
                </a:solidFill>
                <a:latin typeface="Aptos Display"/>
                <a:ea typeface="Aptos Display"/>
                <a:cs typeface="Aptos Display"/>
              </a:defRPr>
            </a:pPr>
            <a:r>
              <a:rPr sz="6000" b="0">
                <a:solidFill>
                  <a:srgbClr val="000000"/>
                </a:solidFill>
                <a:latin typeface="Aptos Display"/>
                <a:ea typeface="Aptos Display"/>
                <a:cs typeface="Aptos Display"/>
              </a:rPr>
              <a:t>Understanding and Applying DevOps Principles</a:t>
            </a:r>
          </a:p>
        </p:txBody>
      </p:sp>
      <p:sp>
        <p:nvSpPr>
          <p:cNvPr id="3" name="Subtitle 2">
            <a:extLst xmlns:a="http://schemas.openxmlformats.org/drawingml/2006/main">
              <a:ext uri="{FF2B5EF4-FFF2-40B4-BE49-F238E27FC236}">
                <a16:creationId xmlns:a16="http://schemas.microsoft.com/office/drawing/2014/main" id="{5D3B56A5-C9DC-A9D8-9727-0727C59BC045}"/>
              </a:ext>
            </a:extLst>
          </p:cNvPr>
          <p:cNvSpPr>
            <a:spLocks xmlns:a="http://schemas.openxmlformats.org/drawingml/2006/main" noGrp="1"/>
          </p:cNvSpPr>
          <p:nvPr>
            <p:ph type="subTitle" idx="1"/>
          </p:nvPr>
        </p:nvSpPr>
        <p:spPr/>
        <p:txBody>
          <a:bodyPr xmlns:a="http://schemas.openxmlformats.org/drawingml/2006/main" lIns="0" tIns="0" rIns="0" bIns="0" anchor="t">
            <a:noAutofit/>
          </a:bodyPr>
          <a:lstStyle xmlns:a="http://schemas.openxmlformats.org/drawingml/2006/main">
            <a:defPPr algn="ctr">
              <a:defRPr sz="2400">
                <a:solidFill>
                  <a:srgbClr val="000000"/>
                </a:solidFill>
                <a:latin typeface="Aptos"/>
                <a:ea typeface="Aptos"/>
                <a:cs typeface="Aptos"/>
              </a:defRPr>
            </a:defPPr>
          </a:lstStyle>
          <a:p xmlns:a="http://schemas.openxmlformats.org/drawingml/2006/main">
            <a:pPr algn="ctr">
              <a:defRPr sz="2400">
                <a:solidFill>
                  <a:srgbClr val="000000"/>
                </a:solidFill>
                <a:latin typeface="Aptos"/>
                <a:ea typeface="Aptos"/>
                <a:cs typeface="Aptos"/>
              </a:defRPr>
            </a:pPr>
            <a:r>
              <a:rPr sz="2400">
                <a:solidFill>
                  <a:srgbClr val="000000"/>
                </a:solidFill>
                <a:latin typeface="Aptos"/>
                <a:ea typeface="Aptos"/>
                <a:cs typeface="Aptos"/>
              </a:rPr>
              <a:t>COMP2013 - Lab 2</a:t>
            </a:r>
          </a:p>
          <a:p xmlns:a="http://schemas.openxmlformats.org/drawingml/2006/main">
            <a:pPr algn="ctr">
              <a:defRPr sz="2400">
                <a:solidFill>
                  <a:srgbClr val="000000"/>
                </a:solidFill>
                <a:latin typeface="Aptos"/>
                <a:ea typeface="Aptos"/>
                <a:cs typeface="Aptos"/>
              </a:defRPr>
            </a:pPr>
            <a:r>
              <a:rPr sz="2400">
                <a:solidFill>
                  <a:srgbClr val="000000"/>
                </a:solidFill>
                <a:latin typeface="Aptos"/>
                <a:ea typeface="Aptos"/>
                <a:cs typeface="Aptos"/>
              </a:rPr>
              <a:t>A practical transformation plan</a:t>
            </a:r>
          </a:p>
        </p:txBody>
      </p:sp>
    </p:spTree>
    <p:extLst>
      <p:ext uri="{BB962C8B-B14F-4D97-AF65-F5344CB8AC3E}">
        <p14:creationId xmlns:p14="http://schemas.microsoft.com/office/powerpoint/2010/main" val="21856758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F76421-231F-6A54-CB23-DA3BD828E121}"/>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Team details</a:t>
            </a:r>
          </a:p>
        </p:txBody>
      </p:sp>
      <p:sp>
        <p:nvSpPr>
          <p:cNvPr id="3" name="members-label">
            <a:extLst xmlns:a="http://schemas.openxmlformats.org/drawingml/2006/main">
              <a:ext uri="{FF2B5EF4-FFF2-40B4-BE49-F238E27FC236}">
                <a16:creationId xmlns:a16="http://schemas.microsoft.com/office/drawing/2014/main" id="{410DBC36-5BAD-4D9D-8090-7F72A686621A}"/>
              </a:ext>
            </a:extLst>
          </p:cNvPr>
          <p:cNvSpPr>
            <a:spLocks xmlns:a="http://schemas.openxmlformats.org/drawingml/2006/main" noGrp="1"/>
          </p:cNvSpPr>
          <p:nvPr/>
        </p:nvSpPr>
        <p:spPr>
          <a:xfrm xmlns:a="http://schemas.openxmlformats.org/drawingml/2006/main">
            <a:off x="838200" y="1828800"/>
            <a:ext cx="1051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00000"/>
                </a:solidFill>
                <a:latin typeface="Aptos"/>
                <a:ea typeface="Aptos"/>
                <a:cs typeface="Aptos"/>
              </a:defRPr>
            </a:defPPr>
          </a:lstStyle>
          <a:p xmlns:a="http://schemas.openxmlformats.org/drawingml/2006/main">
            <a:pPr algn="l">
              <a:defRPr sz="2100" b="0">
                <a:solidFill>
                  <a:srgbClr val="C00000"/>
                </a:solidFill>
                <a:latin typeface="Aptos"/>
                <a:ea typeface="Aptos"/>
                <a:cs typeface="Aptos"/>
              </a:defRPr>
            </a:pPr>
            <a:r>
              <a:rPr sz="2100" b="0">
                <a:solidFill>
                  <a:srgbClr val="C00000"/>
                </a:solidFill>
                <a:latin typeface="Aptos"/>
                <a:ea typeface="Aptos"/>
                <a:cs typeface="Aptos"/>
              </a:rPr>
              <a:t>Team members</a:t>
            </a:r>
          </a:p>
        </p:txBody>
      </p:sp>
      <p:sp>
        <p:nvSpPr>
          <p:cNvPr id="4" name="members">
            <a:extLst xmlns:a="http://schemas.openxmlformats.org/drawingml/2006/main">
              <a:ext uri="{FF2B5EF4-FFF2-40B4-BE49-F238E27FC236}">
                <a16:creationId xmlns:a16="http://schemas.microsoft.com/office/drawing/2014/main" id="{FEEC6CD5-3D34-4B2B-8338-D78B39C4C4AB}"/>
              </a:ext>
            </a:extLst>
          </p:cNvPr>
          <p:cNvSpPr>
            <a:spLocks xmlns:a="http://schemas.openxmlformats.org/drawingml/2006/main" noGrp="1"/>
          </p:cNvSpPr>
          <p:nvPr/>
        </p:nvSpPr>
        <p:spPr>
          <a:xfrm xmlns:a="http://schemas.openxmlformats.org/drawingml/2006/main">
            <a:off x="838200" y="2362200"/>
            <a:ext cx="105156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ptos"/>
                <a:ea typeface="Aptos"/>
                <a:cs typeface="Aptos"/>
              </a:defRPr>
            </a:defPPr>
          </a:lstStyle>
          <a:p xmlns:a="http://schemas.openxmlformats.org/drawingml/2006/main">
            <a:pPr algn="l">
              <a:defRPr sz="2800" b="0">
                <a:solidFill>
                  <a:srgbClr val="000000"/>
                </a:solidFill>
                <a:latin typeface="Aptos"/>
                <a:ea typeface="Aptos"/>
                <a:cs typeface="Aptos"/>
              </a:defRPr>
            </a:pPr>
            <a:r>
              <a:rPr sz="2800" b="0">
                <a:solidFill>
                  <a:srgbClr val="000000"/>
                </a:solidFill>
                <a:latin typeface="Aptos"/>
                <a:ea typeface="Aptos"/>
                <a:cs typeface="Aptos"/>
              </a:rPr>
              <a:t>Qixuan Yang (20719443)</a:t>
            </a:r>
          </a:p>
          <a:p xmlns:a="http://schemas.openxmlformats.org/drawingml/2006/main">
            <a:pPr algn="l">
              <a:defRPr sz="2800" b="0">
                <a:solidFill>
                  <a:srgbClr val="000000"/>
                </a:solidFill>
                <a:latin typeface="Aptos"/>
                <a:ea typeface="Aptos"/>
                <a:cs typeface="Aptos"/>
              </a:defRPr>
            </a:pPr>
            <a:r>
              <a:rPr sz="2800" b="0">
                <a:solidFill>
                  <a:srgbClr val="000000"/>
                </a:solidFill>
                <a:latin typeface="Aptos"/>
                <a:ea typeface="Aptos"/>
                <a:cs typeface="Aptos"/>
              </a:rPr>
              <a:t>Ronghao Hu (20719451)</a:t>
            </a:r>
          </a:p>
          <a:p xmlns:a="http://schemas.openxmlformats.org/drawingml/2006/main">
            <a:pPr algn="l">
              <a:defRPr sz="2800" b="0">
                <a:solidFill>
                  <a:srgbClr val="000000"/>
                </a:solidFill>
                <a:latin typeface="Aptos"/>
                <a:ea typeface="Aptos"/>
                <a:cs typeface="Aptos"/>
              </a:defRPr>
            </a:pPr>
            <a:r>
              <a:rPr sz="2800" b="0">
                <a:solidFill>
                  <a:srgbClr val="000000"/>
                </a:solidFill>
                <a:latin typeface="Aptos"/>
                <a:ea typeface="Aptos"/>
                <a:cs typeface="Aptos"/>
              </a:rPr>
              <a:t>Hanbo Zhao (20719456)</a:t>
            </a:r>
          </a:p>
        </p:txBody>
      </p:sp>
      <p:sp>
        <p:nvSpPr>
          <p:cNvPr id="5" name="team-admin-label">
            <a:extLst xmlns:a="http://schemas.openxmlformats.org/drawingml/2006/main">
              <a:ext uri="{FF2B5EF4-FFF2-40B4-BE49-F238E27FC236}">
                <a16:creationId xmlns:a16="http://schemas.microsoft.com/office/drawing/2014/main" id="{D51F2D50-56B2-4F5E-8209-68BD15805FFE}"/>
              </a:ext>
            </a:extLst>
          </p:cNvPr>
          <p:cNvSpPr>
            <a:spLocks xmlns:a="http://schemas.openxmlformats.org/drawingml/2006/main" noGrp="1"/>
          </p:cNvSpPr>
          <p:nvPr/>
        </p:nvSpPr>
        <p:spPr>
          <a:xfrm xmlns:a="http://schemas.openxmlformats.org/drawingml/2006/main">
            <a:off x="838200" y="4619625"/>
            <a:ext cx="1051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00000"/>
                </a:solidFill>
                <a:latin typeface="Aptos"/>
                <a:ea typeface="Aptos"/>
                <a:cs typeface="Aptos"/>
              </a:defRPr>
            </a:defPPr>
          </a:lstStyle>
          <a:p xmlns:a="http://schemas.openxmlformats.org/drawingml/2006/main">
            <a:pPr algn="l">
              <a:defRPr sz="2100" b="0">
                <a:solidFill>
                  <a:srgbClr val="C00000"/>
                </a:solidFill>
                <a:latin typeface="Aptos"/>
                <a:ea typeface="Aptos"/>
                <a:cs typeface="Aptos"/>
              </a:defRPr>
            </a:pPr>
            <a:r>
              <a:rPr sz="2100" b="0">
                <a:solidFill>
                  <a:srgbClr val="C00000"/>
                </a:solidFill>
                <a:latin typeface="Aptos"/>
                <a:ea typeface="Aptos"/>
                <a:cs typeface="Aptos"/>
              </a:rPr>
              <a:t>Team name / number</a:t>
            </a:r>
          </a:p>
        </p:txBody>
      </p:sp>
      <p:sp>
        <p:nvSpPr>
          <p:cNvPr id="6" name="team-admin">
            <a:extLst xmlns:a="http://schemas.openxmlformats.org/drawingml/2006/main">
              <a:ext uri="{FF2B5EF4-FFF2-40B4-BE49-F238E27FC236}">
                <a16:creationId xmlns:a16="http://schemas.microsoft.com/office/drawing/2014/main" id="{0AFBB990-3EDE-49DA-9DF7-820573003574}"/>
              </a:ext>
            </a:extLst>
          </p:cNvPr>
          <p:cNvSpPr>
            <a:spLocks xmlns:a="http://schemas.openxmlformats.org/drawingml/2006/main" noGrp="1"/>
          </p:cNvSpPr>
          <p:nvPr/>
        </p:nvSpPr>
        <p:spPr>
          <a:xfrm xmlns:a="http://schemas.openxmlformats.org/drawingml/2006/main">
            <a:off x="838200" y="5124450"/>
            <a:ext cx="1051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ptos"/>
                <a:ea typeface="Aptos"/>
                <a:cs typeface="Aptos"/>
              </a:defRPr>
            </a:defPPr>
          </a:lstStyle>
          <a:p xmlns:a="http://schemas.openxmlformats.org/drawingml/2006/main">
            <a:pPr algn="l">
              <a:defRPr sz="2400" b="0">
                <a:solidFill>
                  <a:srgbClr val="000000"/>
                </a:solidFill>
                <a:latin typeface="Aptos"/>
                <a:ea typeface="Aptos"/>
                <a:cs typeface="Aptos"/>
              </a:defRPr>
            </a:pPr>
            <a:r>
              <a:rPr sz="2400" b="0">
                <a:solidFill>
                  <a:srgbClr val="000000"/>
                </a:solidFill>
                <a:latin typeface="Aptos"/>
                <a:ea typeface="Aptos"/>
                <a:cs typeface="Aptos"/>
              </a:rPr>
              <a:t>Not provided - complete before submission</a:t>
            </a:r>
          </a:p>
        </p:txBody>
      </p:sp>
      <p:sp>
        <p:nvSpPr>
          <p:cNvPr id="7" name="page-number">
            <a:extLst xmlns:a="http://schemas.openxmlformats.org/drawingml/2006/main">
              <a:ext uri="{FF2B5EF4-FFF2-40B4-BE49-F238E27FC236}">
                <a16:creationId xmlns:a16="http://schemas.microsoft.com/office/drawing/2014/main" id="{71369B18-16DD-48FE-8E9A-D31FCD9F135A}"/>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02</a:t>
            </a:r>
          </a:p>
        </p:txBody>
      </p:sp>
    </p:spTree>
    <p:extLst>
      <p:ext uri="{BB962C8B-B14F-4D97-AF65-F5344CB8AC3E}">
        <p14:creationId xmlns:p14="http://schemas.microsoft.com/office/powerpoint/2010/main" val="266670944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303707-743F-29D9-4314-6D16F2FF33C7}"/>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Background of the organization</a:t>
            </a:r>
          </a:p>
        </p:txBody>
      </p:sp>
      <p:sp>
        <p:nvSpPr>
          <p:cNvPr id="3" name="block-1-label">
            <a:extLst xmlns:a="http://schemas.openxmlformats.org/drawingml/2006/main">
              <a:ext uri="{FF2B5EF4-FFF2-40B4-BE49-F238E27FC236}">
                <a16:creationId xmlns:a16="http://schemas.microsoft.com/office/drawing/2014/main" id="{E598A5B0-9A59-45F1-AF6A-AFDA821274BC}"/>
              </a:ext>
            </a:extLst>
          </p:cNvPr>
          <p:cNvSpPr>
            <a:spLocks xmlns:a="http://schemas.openxmlformats.org/drawingml/2006/main" noGrp="1"/>
          </p:cNvSpPr>
          <p:nvPr/>
        </p:nvSpPr>
        <p:spPr>
          <a:xfrm xmlns:a="http://schemas.openxmlformats.org/drawingml/2006/main">
            <a:off x="838200" y="18097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People and products</a:t>
            </a:r>
          </a:p>
        </p:txBody>
      </p:sp>
      <p:sp>
        <p:nvSpPr>
          <p:cNvPr id="4" name="block-1-text">
            <a:extLst xmlns:a="http://schemas.openxmlformats.org/drawingml/2006/main">
              <a:ext uri="{FF2B5EF4-FFF2-40B4-BE49-F238E27FC236}">
                <a16:creationId xmlns:a16="http://schemas.microsoft.com/office/drawing/2014/main" id="{4AD4964B-776F-41F6-9AB7-2EFC620BA830}"/>
              </a:ext>
            </a:extLst>
          </p:cNvPr>
          <p:cNvSpPr>
            <a:spLocks xmlns:a="http://schemas.openxmlformats.org/drawingml/2006/main" noGrp="1"/>
          </p:cNvSpPr>
          <p:nvPr/>
        </p:nvSpPr>
        <p:spPr>
          <a:xfrm xmlns:a="http://schemas.openxmlformats.org/drawingml/2006/main">
            <a:off x="838200" y="219075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About 100 people at one site; three development teams of 10-15 people. Three web applications share a common database.</a:t>
            </a:r>
          </a:p>
        </p:txBody>
      </p:sp>
      <p:sp>
        <p:nvSpPr>
          <p:cNvPr id="5" name="block-2-label">
            <a:extLst xmlns:a="http://schemas.openxmlformats.org/drawingml/2006/main">
              <a:ext uri="{FF2B5EF4-FFF2-40B4-BE49-F238E27FC236}">
                <a16:creationId xmlns:a16="http://schemas.microsoft.com/office/drawing/2014/main" id="{254B52CA-CE7F-439C-89BE-7FFABACA4F03}"/>
              </a:ext>
            </a:extLst>
          </p:cNvPr>
          <p:cNvSpPr>
            <a:spLocks xmlns:a="http://schemas.openxmlformats.org/drawingml/2006/main" noGrp="1"/>
          </p:cNvSpPr>
          <p:nvPr/>
        </p:nvSpPr>
        <p:spPr>
          <a:xfrm xmlns:a="http://schemas.openxmlformats.org/drawingml/2006/main">
            <a:off x="838200" y="330517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Current delivery process</a:t>
            </a:r>
          </a:p>
        </p:txBody>
      </p:sp>
      <p:sp>
        <p:nvSpPr>
          <p:cNvPr id="6" name="block-2-text">
            <a:extLst xmlns:a="http://schemas.openxmlformats.org/drawingml/2006/main">
              <a:ext uri="{FF2B5EF4-FFF2-40B4-BE49-F238E27FC236}">
                <a16:creationId xmlns:a16="http://schemas.microsoft.com/office/drawing/2014/main" id="{6257FE12-8F49-4638-A179-CE7451F54646}"/>
              </a:ext>
            </a:extLst>
          </p:cNvPr>
          <p:cNvSpPr>
            <a:spLocks xmlns:a="http://schemas.openxmlformats.org/drawingml/2006/main" noGrp="1"/>
          </p:cNvSpPr>
          <p:nvPr/>
        </p:nvSpPr>
        <p:spPr>
          <a:xfrm xmlns:a="http://schemas.openxmlformats.org/drawingml/2006/main">
            <a:off x="838200" y="3686175"/>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Sales gathers requirements; teams use their own processes and tools. Development performs functional tests; Test performs manual integration and acceptance tests; Operations deploys to Google Cloud.</a:t>
            </a:r>
          </a:p>
        </p:txBody>
      </p:sp>
      <p:sp>
        <p:nvSpPr>
          <p:cNvPr id="7" name="block-3-label">
            <a:extLst xmlns:a="http://schemas.openxmlformats.org/drawingml/2006/main">
              <a:ext uri="{FF2B5EF4-FFF2-40B4-BE49-F238E27FC236}">
                <a16:creationId xmlns:a16="http://schemas.microsoft.com/office/drawing/2014/main" id="{1985328C-602E-473E-A32C-292EE112F0D2}"/>
              </a:ext>
            </a:extLst>
          </p:cNvPr>
          <p:cNvSpPr>
            <a:spLocks xmlns:a="http://schemas.openxmlformats.org/drawingml/2006/main" noGrp="1"/>
          </p:cNvSpPr>
          <p:nvPr/>
        </p:nvSpPr>
        <p:spPr>
          <a:xfrm xmlns:a="http://schemas.openxmlformats.org/drawingml/2006/main">
            <a:off x="838200" y="480060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Communication</a:t>
            </a:r>
          </a:p>
        </p:txBody>
      </p:sp>
      <p:sp>
        <p:nvSpPr>
          <p:cNvPr id="8" name="block-3-text">
            <a:extLst xmlns:a="http://schemas.openxmlformats.org/drawingml/2006/main">
              <a:ext uri="{FF2B5EF4-FFF2-40B4-BE49-F238E27FC236}">
                <a16:creationId xmlns:a16="http://schemas.microsoft.com/office/drawing/2014/main" id="{07423D03-7544-4119-9FBA-21D4EA67C494}"/>
              </a:ext>
            </a:extLst>
          </p:cNvPr>
          <p:cNvSpPr>
            <a:spLocks xmlns:a="http://schemas.openxmlformats.org/drawingml/2006/main" noGrp="1"/>
          </p:cNvSpPr>
          <p:nvPr/>
        </p:nvSpPr>
        <p:spPr>
          <a:xfrm xmlns:a="http://schemas.openxmlformats.org/drawingml/2006/main">
            <a:off x="838200" y="518160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Informal email is the primary channel. The business domain and current delivery performance are not specified.</a:t>
            </a:r>
          </a:p>
        </p:txBody>
      </p:sp>
      <p:sp>
        <p:nvSpPr>
          <p:cNvPr id="9" name="page-number">
            <a:extLst xmlns:a="http://schemas.openxmlformats.org/drawingml/2006/main">
              <a:ext uri="{FF2B5EF4-FFF2-40B4-BE49-F238E27FC236}">
                <a16:creationId xmlns:a16="http://schemas.microsoft.com/office/drawing/2014/main" id="{A6486A97-E7BF-4160-82AB-425DFB9071EC}"/>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03</a:t>
            </a:r>
          </a:p>
        </p:txBody>
      </p:sp>
    </p:spTree>
    <p:extLst>
      <p:ext uri="{BB962C8B-B14F-4D97-AF65-F5344CB8AC3E}">
        <p14:creationId xmlns:p14="http://schemas.microsoft.com/office/powerpoint/2010/main" val="193250773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7275F46-9BF7-BD28-79B1-F42B987192C6}"/>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1 - Challenge register</a:t>
            </a:r>
          </a:p>
        </p:txBody>
      </p:sp>
      <p:graphicFrame>
        <p:nvGraphicFramePr>
          <p:cNvPr id="3" name="">
            <a:extLst xmlns:a="http://schemas.openxmlformats.org/drawingml/2006/main">
              <a:ext uri="{FF2B5EF4-FFF2-40B4-BE49-F238E27FC236}">
                <a16:creationId xmlns:a16="http://schemas.microsoft.com/office/drawing/2014/main" id="{1ED00365-3D77-4517-8214-9F33A3B6A3DF}"/>
              </a:ext>
            </a:extLst>
          </p:cNvPr>
          <p:cNvGraphicFramePr/>
          <p:nvPr/>
        </p:nvGraphicFramePr>
        <p:xfrm>
          <a:off xmlns:a="http://schemas.openxmlformats.org/drawingml/2006/main" x="838200" y="1828800"/>
          <a:ext xmlns:a="http://schemas.openxmlformats.org/drawingml/2006/main" cx="10515600" cy="4191000"/>
        </p:xfrm>
        <a:graphic xmlns:a="http://schemas.openxmlformats.org/drawingml/2006/main">
          <a:graphicData uri="http://schemas.openxmlformats.org/drawingml/2006/table">
            <a:tbl>
              <a:tblPr/>
              <a:tblGrid>
                <a:gridCol w="2000250"/>
                <a:gridCol w="2667000"/>
                <a:gridCol w="2762250"/>
                <a:gridCol w="3086100"/>
              </a:tblGrid>
              <a:tr h="495300">
                <a:tc>
                  <a:txBody>
                    <a:bodyPr>
                      <a:noAutofit/>
                    </a:bodyPr>
                    <a:lstStyle/>
                    <a:p>
                      <a:r>
                        <a:rPr sz="1800" b="1">
                          <a:solidFill>
                            <a:srgbClr val="000000"/>
                          </a:solidFill>
                          <a:latin typeface="Aptos"/>
                          <a:ea typeface="Aptos"/>
                          <a:cs typeface="Aptos"/>
                        </a:rPr>
                        <a:t>ID / challenge</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Case evidence</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Potential consequence</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Plan response</a:t>
                      </a:r>
                    </a:p>
                  </a:txBody>
                  <a:tcPr marL="114300" marR="114300" marT="47625" marB="47625" anchor="t">
                    <a:solidFill>
                      <a:srgbClr val="F2F2F2"/>
                    </a:solidFill>
                  </a:tcPr>
                </a:tc>
              </a:tr>
              <a:tr h="923925">
                <a:tc>
                  <a:txBody>
                    <a:bodyPr>
                      <a:noAutofit/>
                    </a:bodyPr>
                    <a:lstStyle/>
                    <a:p>
                      <a:r>
                        <a:rPr sz="1800" b="0">
                          <a:solidFill>
                            <a:srgbClr val="000000"/>
                          </a:solidFill>
                          <a:latin typeface="Aptos"/>
                          <a:ea typeface="Aptos"/>
                          <a:cs typeface="Aptos"/>
                        </a:rPr>
                        <a:t>C1 Communication</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Informal email; sales collects requirements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Lost decisions, slow clarification</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P1 Shared backlog and pilot squad</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C2 Integration risk</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Separate team tools; shared database</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Conflicting changes, rework</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P2 Shared checks; P3 migration controls</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C3 Release bottleneck</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Manual tests; Test-to-Ops handoff</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Queues and deployment errors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P2 Automation; P3 safe releases</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C4 Learning and trust</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Separated departments; learning culture unknown</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Knowledge silos if incentives conflict</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P4 Feedback; L1-L3 learning actions</a:t>
                      </a:r>
                    </a:p>
                  </a:txBody>
                  <a:tcPr marL="114300" marR="114300" marT="47625" marB="47625" anchor="t">
                    <a:solidFill>
                      <a:srgbClr val="FFFFFF"/>
                    </a:solidFill>
                  </a:tcPr>
                </a:tc>
              </a:tr>
            </a:tbl>
          </a:graphicData>
        </a:graphic>
      </p:graphicFrame>
      <p:sp>
        <p:nvSpPr>
          <p:cNvPr id="4" name="table-footnote">
            <a:extLst xmlns:a="http://schemas.openxmlformats.org/drawingml/2006/main">
              <a:ext uri="{FF2B5EF4-FFF2-40B4-BE49-F238E27FC236}">
                <a16:creationId xmlns:a16="http://schemas.microsoft.com/office/drawing/2014/main" id="{0FF8BD4B-B978-4423-88ED-5153AE1D64D9}"/>
              </a:ext>
            </a:extLst>
          </p:cNvPr>
          <p:cNvSpPr>
            <a:spLocks xmlns:a="http://schemas.openxmlformats.org/drawingml/2006/main" noGrp="1"/>
          </p:cNvSpPr>
          <p:nvPr/>
        </p:nvSpPr>
        <p:spPr>
          <a:xfrm xmlns:a="http://schemas.openxmlformats.org/drawingml/2006/main">
            <a:off x="838200" y="61531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95959"/>
                </a:solidFill>
                <a:latin typeface="Aptos"/>
                <a:ea typeface="Aptos"/>
                <a:cs typeface="Aptos"/>
              </a:defRPr>
            </a:defPPr>
          </a:lstStyle>
          <a:p xmlns:a="http://schemas.openxmlformats.org/drawingml/2006/main">
            <a:pPr algn="l">
              <a:defRPr sz="1600" b="0">
                <a:solidFill>
                  <a:srgbClr val="595959"/>
                </a:solidFill>
                <a:latin typeface="Aptos"/>
                <a:ea typeface="Aptos"/>
                <a:cs typeface="Aptos"/>
              </a:defRPr>
            </a:pPr>
            <a:r>
              <a:rPr sz="1600" b="0">
                <a:solidFill>
                  <a:srgbClr val="595959"/>
                </a:solidFill>
                <a:latin typeface="Aptos"/>
                <a:ea typeface="Aptos"/>
                <a:cs typeface="Aptos"/>
              </a:rPr>
              <a:t>Consequences are reasoned possibilities. The assumptions behind them are stated next.</a:t>
            </a:r>
          </a:p>
        </p:txBody>
      </p:sp>
      <p:sp>
        <p:nvSpPr>
          <p:cNvPr id="5" name="page-number">
            <a:extLst xmlns:a="http://schemas.openxmlformats.org/drawingml/2006/main">
              <a:ext uri="{FF2B5EF4-FFF2-40B4-BE49-F238E27FC236}">
                <a16:creationId xmlns:a16="http://schemas.microsoft.com/office/drawing/2014/main" id="{CF84D275-1193-4881-A369-6658B06AE6FB}"/>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04</a:t>
            </a:r>
          </a:p>
        </p:txBody>
      </p:sp>
    </p:spTree>
    <p:extLst>
      <p:ext uri="{BB962C8B-B14F-4D97-AF65-F5344CB8AC3E}">
        <p14:creationId xmlns:p14="http://schemas.microsoft.com/office/powerpoint/2010/main" val="37580227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8E8168-E26A-7FA1-72E3-C872A950035C}"/>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1 - Communication and trust</a:t>
            </a:r>
          </a:p>
        </p:txBody>
      </p:sp>
      <p:sp>
        <p:nvSpPr>
          <p:cNvPr id="3" name="block-1-label">
            <a:extLst xmlns:a="http://schemas.openxmlformats.org/drawingml/2006/main">
              <a:ext uri="{FF2B5EF4-FFF2-40B4-BE49-F238E27FC236}">
                <a16:creationId xmlns:a16="http://schemas.microsoft.com/office/drawing/2014/main" id="{FE465D26-B134-4A18-882B-2C2CC872185E}"/>
              </a:ext>
            </a:extLst>
          </p:cNvPr>
          <p:cNvSpPr>
            <a:spLocks xmlns:a="http://schemas.openxmlformats.org/drawingml/2006/main" noGrp="1"/>
          </p:cNvSpPr>
          <p:nvPr/>
        </p:nvSpPr>
        <p:spPr>
          <a:xfrm xmlns:a="http://schemas.openxmlformats.org/drawingml/2006/main">
            <a:off x="838200" y="18097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C1: assumptions</a:t>
            </a:r>
          </a:p>
        </p:txBody>
      </p:sp>
      <p:sp>
        <p:nvSpPr>
          <p:cNvPr id="4" name="block-1-text">
            <a:extLst xmlns:a="http://schemas.openxmlformats.org/drawingml/2006/main">
              <a:ext uri="{FF2B5EF4-FFF2-40B4-BE49-F238E27FC236}">
                <a16:creationId xmlns:a16="http://schemas.microsoft.com/office/drawing/2014/main" id="{47776D8A-F321-40DD-A775-99A29419012B}"/>
              </a:ext>
            </a:extLst>
          </p:cNvPr>
          <p:cNvSpPr>
            <a:spLocks xmlns:a="http://schemas.openxmlformats.org/drawingml/2006/main" noGrp="1"/>
          </p:cNvSpPr>
          <p:nvPr/>
        </p:nvSpPr>
        <p:spPr>
          <a:xfrm xmlns:a="http://schemas.openxmlformats.org/drawingml/2006/main">
            <a:off x="838200" y="219075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A1: there is no shared, authoritative backlog or decision log. A2: important release decisions are held in individual inboxes.</a:t>
            </a:r>
          </a:p>
        </p:txBody>
      </p:sp>
      <p:sp>
        <p:nvSpPr>
          <p:cNvPr id="5" name="block-2-label">
            <a:extLst xmlns:a="http://schemas.openxmlformats.org/drawingml/2006/main">
              <a:ext uri="{FF2B5EF4-FFF2-40B4-BE49-F238E27FC236}">
                <a16:creationId xmlns:a16="http://schemas.microsoft.com/office/drawing/2014/main" id="{A70726EA-17A2-4540-8572-D0CFCCDED4DD}"/>
              </a:ext>
            </a:extLst>
          </p:cNvPr>
          <p:cNvSpPr>
            <a:spLocks xmlns:a="http://schemas.openxmlformats.org/drawingml/2006/main" noGrp="1"/>
          </p:cNvSpPr>
          <p:nvPr/>
        </p:nvSpPr>
        <p:spPr>
          <a:xfrm xmlns:a="http://schemas.openxmlformats.org/drawingml/2006/main">
            <a:off x="838200" y="330517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C1: implications</a:t>
            </a:r>
          </a:p>
        </p:txBody>
      </p:sp>
      <p:sp>
        <p:nvSpPr>
          <p:cNvPr id="6" name="block-2-text">
            <a:extLst xmlns:a="http://schemas.openxmlformats.org/drawingml/2006/main">
              <a:ext uri="{FF2B5EF4-FFF2-40B4-BE49-F238E27FC236}">
                <a16:creationId xmlns:a16="http://schemas.microsoft.com/office/drawing/2014/main" id="{C5E7C890-E267-47E9-BD06-3EE398E3F889}"/>
              </a:ext>
            </a:extLst>
          </p:cNvPr>
          <p:cNvSpPr>
            <a:spLocks xmlns:a="http://schemas.openxmlformats.org/drawingml/2006/main" noGrp="1"/>
          </p:cNvSpPr>
          <p:nvPr/>
        </p:nvSpPr>
        <p:spPr>
          <a:xfrm xmlns:a="http://schemas.openxmlformats.org/drawingml/2006/main">
            <a:off x="838200" y="3686175"/>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Teams may implement different priorities or lose context at handoffs. A shared backlog, named product owner and documented release decisions would reduce ambiguity.</a:t>
            </a:r>
          </a:p>
        </p:txBody>
      </p:sp>
      <p:sp>
        <p:nvSpPr>
          <p:cNvPr id="7" name="block-3-label">
            <a:extLst xmlns:a="http://schemas.openxmlformats.org/drawingml/2006/main">
              <a:ext uri="{FF2B5EF4-FFF2-40B4-BE49-F238E27FC236}">
                <a16:creationId xmlns:a16="http://schemas.microsoft.com/office/drawing/2014/main" id="{C0BF8F8A-B00F-4129-9E6A-EF800B202454}"/>
              </a:ext>
            </a:extLst>
          </p:cNvPr>
          <p:cNvSpPr>
            <a:spLocks xmlns:a="http://schemas.openxmlformats.org/drawingml/2006/main" noGrp="1"/>
          </p:cNvSpPr>
          <p:nvPr/>
        </p:nvSpPr>
        <p:spPr>
          <a:xfrm xmlns:a="http://schemas.openxmlformats.org/drawingml/2006/main">
            <a:off x="838200" y="480060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C4: assumption and implication</a:t>
            </a:r>
          </a:p>
        </p:txBody>
      </p:sp>
      <p:sp>
        <p:nvSpPr>
          <p:cNvPr id="8" name="block-3-text">
            <a:extLst xmlns:a="http://schemas.openxmlformats.org/drawingml/2006/main">
              <a:ext uri="{FF2B5EF4-FFF2-40B4-BE49-F238E27FC236}">
                <a16:creationId xmlns:a16="http://schemas.microsoft.com/office/drawing/2014/main" id="{3551E3DB-F0D3-4E58-8B04-17DD1EAF2C80}"/>
              </a:ext>
            </a:extLst>
          </p:cNvPr>
          <p:cNvSpPr>
            <a:spLocks xmlns:a="http://schemas.openxmlformats.org/drawingml/2006/main" noGrp="1"/>
          </p:cNvSpPr>
          <p:nvPr/>
        </p:nvSpPr>
        <p:spPr>
          <a:xfrm xmlns:a="http://schemas.openxmlformats.org/drawingml/2006/main">
            <a:off x="838200" y="518160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A3: Dev is rewarded for features and Ops for uptime. If true, conflicting incentives discourage risk reporting and sharing. Validate through interviews; introduce shared outcomes and no-blame reviews.</a:t>
            </a:r>
          </a:p>
        </p:txBody>
      </p:sp>
      <p:sp>
        <p:nvSpPr>
          <p:cNvPr id="9" name="page-number">
            <a:extLst xmlns:a="http://schemas.openxmlformats.org/drawingml/2006/main">
              <a:ext uri="{FF2B5EF4-FFF2-40B4-BE49-F238E27FC236}">
                <a16:creationId xmlns:a16="http://schemas.microsoft.com/office/drawing/2014/main" id="{871C69AA-C6FC-458F-80EC-99F2BC83751C}"/>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05</a:t>
            </a:r>
          </a:p>
        </p:txBody>
      </p:sp>
    </p:spTree>
    <p:extLst>
      <p:ext uri="{BB962C8B-B14F-4D97-AF65-F5344CB8AC3E}">
        <p14:creationId xmlns:p14="http://schemas.microsoft.com/office/powerpoint/2010/main" val="201156228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E1C87C-372D-D183-4FB6-088C9F8E5B2E}"/>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1 - Tools and shared data</a:t>
            </a:r>
          </a:p>
        </p:txBody>
      </p:sp>
      <p:sp>
        <p:nvSpPr>
          <p:cNvPr id="3" name="block-1-label">
            <a:extLst xmlns:a="http://schemas.openxmlformats.org/drawingml/2006/main">
              <a:ext uri="{FF2B5EF4-FFF2-40B4-BE49-F238E27FC236}">
                <a16:creationId xmlns:a16="http://schemas.microsoft.com/office/drawing/2014/main" id="{84C298B4-2014-4D9E-9CFD-072017CA8B43}"/>
              </a:ext>
            </a:extLst>
          </p:cNvPr>
          <p:cNvSpPr>
            <a:spLocks xmlns:a="http://schemas.openxmlformats.org/drawingml/2006/main" noGrp="1"/>
          </p:cNvSpPr>
          <p:nvPr/>
        </p:nvSpPr>
        <p:spPr>
          <a:xfrm xmlns:a="http://schemas.openxmlformats.org/drawingml/2006/main">
            <a:off x="838200" y="18097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C2: assumptions</a:t>
            </a:r>
          </a:p>
        </p:txBody>
      </p:sp>
      <p:sp>
        <p:nvSpPr>
          <p:cNvPr id="4" name="block-1-text">
            <a:extLst xmlns:a="http://schemas.openxmlformats.org/drawingml/2006/main">
              <a:ext uri="{FF2B5EF4-FFF2-40B4-BE49-F238E27FC236}">
                <a16:creationId xmlns:a16="http://schemas.microsoft.com/office/drawing/2014/main" id="{E40BAC8F-B03A-4BE5-83DD-DA6A027AE503}"/>
              </a:ext>
            </a:extLst>
          </p:cNvPr>
          <p:cNvSpPr>
            <a:spLocks xmlns:a="http://schemas.openxmlformats.org/drawingml/2006/main" noGrp="1"/>
          </p:cNvSpPr>
          <p:nvPr/>
        </p:nvSpPr>
        <p:spPr>
          <a:xfrm xmlns:a="http://schemas.openxmlformats.org/drawingml/2006/main">
            <a:off x="838200" y="219075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A4: teams have incompatible build or release conventions. A5: one application can introduce database changes that affect the other two.</a:t>
            </a:r>
          </a:p>
        </p:txBody>
      </p:sp>
      <p:sp>
        <p:nvSpPr>
          <p:cNvPr id="5" name="block-2-label">
            <a:extLst xmlns:a="http://schemas.openxmlformats.org/drawingml/2006/main">
              <a:ext uri="{FF2B5EF4-FFF2-40B4-BE49-F238E27FC236}">
                <a16:creationId xmlns:a16="http://schemas.microsoft.com/office/drawing/2014/main" id="{BE7AD64F-F769-40B6-BBEB-407C522B3710}"/>
              </a:ext>
            </a:extLst>
          </p:cNvPr>
          <p:cNvSpPr>
            <a:spLocks xmlns:a="http://schemas.openxmlformats.org/drawingml/2006/main" noGrp="1"/>
          </p:cNvSpPr>
          <p:nvPr/>
        </p:nvSpPr>
        <p:spPr>
          <a:xfrm xmlns:a="http://schemas.openxmlformats.org/drawingml/2006/main">
            <a:off x="838200" y="330517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Implications</a:t>
            </a:r>
          </a:p>
        </p:txBody>
      </p:sp>
      <p:sp>
        <p:nvSpPr>
          <p:cNvPr id="6" name="block-2-text">
            <a:extLst xmlns:a="http://schemas.openxmlformats.org/drawingml/2006/main">
              <a:ext uri="{FF2B5EF4-FFF2-40B4-BE49-F238E27FC236}">
                <a16:creationId xmlns:a16="http://schemas.microsoft.com/office/drawing/2014/main" id="{E35F7EFB-6775-49D5-BEA0-B173BFC171A3}"/>
              </a:ext>
            </a:extLst>
          </p:cNvPr>
          <p:cNvSpPr>
            <a:spLocks xmlns:a="http://schemas.openxmlformats.org/drawingml/2006/main" noGrp="1"/>
          </p:cNvSpPr>
          <p:nvPr/>
        </p:nvSpPr>
        <p:spPr>
          <a:xfrm xmlns:a="http://schemas.openxmlformats.org/drawingml/2006/main">
            <a:off x="838200" y="3686175"/>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Integration defects may appear late; a database change can block several releases. Tool differences may duplicate work and make troubleshooting harder.</a:t>
            </a:r>
          </a:p>
        </p:txBody>
      </p:sp>
      <p:sp>
        <p:nvSpPr>
          <p:cNvPr id="7" name="block-3-label">
            <a:extLst xmlns:a="http://schemas.openxmlformats.org/drawingml/2006/main">
              <a:ext uri="{FF2B5EF4-FFF2-40B4-BE49-F238E27FC236}">
                <a16:creationId xmlns:a16="http://schemas.microsoft.com/office/drawing/2014/main" id="{D19E95C9-A14F-44E3-9E41-DA5EAEE3989C}"/>
              </a:ext>
            </a:extLst>
          </p:cNvPr>
          <p:cNvSpPr>
            <a:spLocks xmlns:a="http://schemas.openxmlformats.org/drawingml/2006/main" noGrp="1"/>
          </p:cNvSpPr>
          <p:nvPr/>
        </p:nvSpPr>
        <p:spPr>
          <a:xfrm xmlns:a="http://schemas.openxmlformats.org/drawingml/2006/main">
            <a:off x="838200" y="480060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Response and trade-off</a:t>
            </a:r>
          </a:p>
        </p:txBody>
      </p:sp>
      <p:sp>
        <p:nvSpPr>
          <p:cNvPr id="8" name="block-3-text">
            <a:extLst xmlns:a="http://schemas.openxmlformats.org/drawingml/2006/main">
              <a:ext uri="{FF2B5EF4-FFF2-40B4-BE49-F238E27FC236}">
                <a16:creationId xmlns:a16="http://schemas.microsoft.com/office/drawing/2014/main" id="{F939C16E-3BA8-42F1-8B2D-C0D5B5435DCA}"/>
              </a:ext>
            </a:extLst>
          </p:cNvPr>
          <p:cNvSpPr>
            <a:spLocks xmlns:a="http://schemas.openxmlformats.org/drawingml/2006/main" noGrp="1"/>
          </p:cNvSpPr>
          <p:nvPr/>
        </p:nvSpPr>
        <p:spPr>
          <a:xfrm xmlns:a="http://schemas.openxmlformats.org/drawingml/2006/main">
            <a:off x="838200" y="518160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Agree minimum build/test checks and versioned migration rules. Test all three applications against changed schemas. Keep useful team tools; defer a full database split because cost and feasibility are unknown.</a:t>
            </a:r>
          </a:p>
        </p:txBody>
      </p:sp>
      <p:sp>
        <p:nvSpPr>
          <p:cNvPr id="9" name="page-number">
            <a:extLst xmlns:a="http://schemas.openxmlformats.org/drawingml/2006/main">
              <a:ext uri="{FF2B5EF4-FFF2-40B4-BE49-F238E27FC236}">
                <a16:creationId xmlns:a16="http://schemas.microsoft.com/office/drawing/2014/main" id="{647E4403-515B-40F1-87A9-B1BB76616994}"/>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06</a:t>
            </a:r>
          </a:p>
        </p:txBody>
      </p:sp>
    </p:spTree>
    <p:extLst>
      <p:ext uri="{BB962C8B-B14F-4D97-AF65-F5344CB8AC3E}">
        <p14:creationId xmlns:p14="http://schemas.microsoft.com/office/powerpoint/2010/main" val="15912733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C8B9B0-C811-7C17-B2E2-DDBB03F8E9E5}"/>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1 - Testing and release queues</a:t>
            </a:r>
          </a:p>
        </p:txBody>
      </p:sp>
      <p:sp>
        <p:nvSpPr>
          <p:cNvPr id="3" name="block-1-label">
            <a:extLst xmlns:a="http://schemas.openxmlformats.org/drawingml/2006/main">
              <a:ext uri="{FF2B5EF4-FFF2-40B4-BE49-F238E27FC236}">
                <a16:creationId xmlns:a16="http://schemas.microsoft.com/office/drawing/2014/main" id="{39705081-F136-4E58-A003-F3D768DDA685}"/>
              </a:ext>
            </a:extLst>
          </p:cNvPr>
          <p:cNvSpPr>
            <a:spLocks xmlns:a="http://schemas.openxmlformats.org/drawingml/2006/main" noGrp="1"/>
          </p:cNvSpPr>
          <p:nvPr/>
        </p:nvSpPr>
        <p:spPr>
          <a:xfrm xmlns:a="http://schemas.openxmlformats.org/drawingml/2006/main">
            <a:off x="838200" y="18097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C3: assumptions</a:t>
            </a:r>
          </a:p>
        </p:txBody>
      </p:sp>
      <p:sp>
        <p:nvSpPr>
          <p:cNvPr id="4" name="block-1-text">
            <a:extLst xmlns:a="http://schemas.openxmlformats.org/drawingml/2006/main">
              <a:ext uri="{FF2B5EF4-FFF2-40B4-BE49-F238E27FC236}">
                <a16:creationId xmlns:a16="http://schemas.microsoft.com/office/drawing/2014/main" id="{35039EF8-75A7-4F69-A12C-8C18ECD9AEC3}"/>
              </a:ext>
            </a:extLst>
          </p:cNvPr>
          <p:cNvSpPr>
            <a:spLocks xmlns:a="http://schemas.openxmlformats.org/drawingml/2006/main" noGrp="1"/>
          </p:cNvSpPr>
          <p:nvPr/>
        </p:nvSpPr>
        <p:spPr>
          <a:xfrm xmlns:a="http://schemas.openxmlformats.org/drawingml/2006/main">
            <a:off x="838200" y="219075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A6: the Test team has limited capacity and repeated regression work. A7: deployment depends on manual steps and person-specific knowledge.</a:t>
            </a:r>
          </a:p>
        </p:txBody>
      </p:sp>
      <p:sp>
        <p:nvSpPr>
          <p:cNvPr id="5" name="block-2-label">
            <a:extLst xmlns:a="http://schemas.openxmlformats.org/drawingml/2006/main">
              <a:ext uri="{FF2B5EF4-FFF2-40B4-BE49-F238E27FC236}">
                <a16:creationId xmlns:a16="http://schemas.microsoft.com/office/drawing/2014/main" id="{0AE3B2CF-BB35-4142-A360-3ADF26747985}"/>
              </a:ext>
            </a:extLst>
          </p:cNvPr>
          <p:cNvSpPr>
            <a:spLocks xmlns:a="http://schemas.openxmlformats.org/drawingml/2006/main" noGrp="1"/>
          </p:cNvSpPr>
          <p:nvPr/>
        </p:nvSpPr>
        <p:spPr>
          <a:xfrm xmlns:a="http://schemas.openxmlformats.org/drawingml/2006/main">
            <a:off x="838200" y="330517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Implications</a:t>
            </a:r>
          </a:p>
        </p:txBody>
      </p:sp>
      <p:sp>
        <p:nvSpPr>
          <p:cNvPr id="6" name="block-2-text">
            <a:extLst xmlns:a="http://schemas.openxmlformats.org/drawingml/2006/main">
              <a:ext uri="{FF2B5EF4-FFF2-40B4-BE49-F238E27FC236}">
                <a16:creationId xmlns:a16="http://schemas.microsoft.com/office/drawing/2014/main" id="{B9CB8CD1-F763-4A6C-BB35-E00CC9DFC88E}"/>
              </a:ext>
            </a:extLst>
          </p:cNvPr>
          <p:cNvSpPr>
            <a:spLocks xmlns:a="http://schemas.openxmlformats.org/drawingml/2006/main" noGrp="1"/>
          </p:cNvSpPr>
          <p:nvPr/>
        </p:nvSpPr>
        <p:spPr>
          <a:xfrm xmlns:a="http://schemas.openxmlformats.org/drawingml/2006/main">
            <a:off x="838200" y="3686175"/>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Work waits between teams; large release batches increase rework and recovery effort. Faster development alone can enlarge the test queue.</a:t>
            </a:r>
          </a:p>
        </p:txBody>
      </p:sp>
      <p:sp>
        <p:nvSpPr>
          <p:cNvPr id="7" name="block-3-label">
            <a:extLst xmlns:a="http://schemas.openxmlformats.org/drawingml/2006/main">
              <a:ext uri="{FF2B5EF4-FFF2-40B4-BE49-F238E27FC236}">
                <a16:creationId xmlns:a16="http://schemas.microsoft.com/office/drawing/2014/main" id="{8652F065-8BEE-4E99-A27B-5F9E1D90B388}"/>
              </a:ext>
            </a:extLst>
          </p:cNvPr>
          <p:cNvSpPr>
            <a:spLocks xmlns:a="http://schemas.openxmlformats.org/drawingml/2006/main" noGrp="1"/>
          </p:cNvSpPr>
          <p:nvPr/>
        </p:nvSpPr>
        <p:spPr>
          <a:xfrm xmlns:a="http://schemas.openxmlformats.org/drawingml/2006/main">
            <a:off x="838200" y="480060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Response and trade-off</a:t>
            </a:r>
          </a:p>
        </p:txBody>
      </p:sp>
      <p:sp>
        <p:nvSpPr>
          <p:cNvPr id="8" name="block-3-text">
            <a:extLst xmlns:a="http://schemas.openxmlformats.org/drawingml/2006/main">
              <a:ext uri="{FF2B5EF4-FFF2-40B4-BE49-F238E27FC236}">
                <a16:creationId xmlns:a16="http://schemas.microsoft.com/office/drawing/2014/main" id="{B4A8F872-6516-4AEA-A181-1A1385C927EF}"/>
              </a:ext>
            </a:extLst>
          </p:cNvPr>
          <p:cNvSpPr>
            <a:spLocks xmlns:a="http://schemas.openxmlformats.org/drawingml/2006/main" noGrp="1"/>
          </p:cNvSpPr>
          <p:nvPr/>
        </p:nvSpPr>
        <p:spPr>
          <a:xfrm xmlns:a="http://schemas.openxmlformats.org/drawingml/2006/main">
            <a:off x="838200" y="518160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Measure queue time first. Automate critical regression checks, retain exploratory acceptance tests, and limit work in progress. Give the pilot squad joint responsibility for release readiness.</a:t>
            </a:r>
          </a:p>
        </p:txBody>
      </p:sp>
      <p:sp>
        <p:nvSpPr>
          <p:cNvPr id="9" name="page-number">
            <a:extLst xmlns:a="http://schemas.openxmlformats.org/drawingml/2006/main">
              <a:ext uri="{FF2B5EF4-FFF2-40B4-BE49-F238E27FC236}">
                <a16:creationId xmlns:a16="http://schemas.microsoft.com/office/drawing/2014/main" id="{44DC3B5F-6BFB-4C59-B402-A24DDEAC2D25}"/>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07</a:t>
            </a:r>
          </a:p>
        </p:txBody>
      </p:sp>
    </p:spTree>
    <p:extLst>
      <p:ext uri="{BB962C8B-B14F-4D97-AF65-F5344CB8AC3E}">
        <p14:creationId xmlns:p14="http://schemas.microsoft.com/office/powerpoint/2010/main" val="193114585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5D9BBB-CDEB-ABDA-A79E-7402DADFE450}"/>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2 - Objectives and approach</a:t>
            </a:r>
          </a:p>
        </p:txBody>
      </p:sp>
      <p:sp>
        <p:nvSpPr>
          <p:cNvPr id="3" name="block-1-label">
            <a:extLst xmlns:a="http://schemas.openxmlformats.org/drawingml/2006/main">
              <a:ext uri="{FF2B5EF4-FFF2-40B4-BE49-F238E27FC236}">
                <a16:creationId xmlns:a16="http://schemas.microsoft.com/office/drawing/2014/main" id="{21E2B17B-2942-40F4-93E9-053B653E12BF}"/>
              </a:ext>
            </a:extLst>
          </p:cNvPr>
          <p:cNvSpPr>
            <a:spLocks xmlns:a="http://schemas.openxmlformats.org/drawingml/2006/main" noGrp="1"/>
          </p:cNvSpPr>
          <p:nvPr/>
        </p:nvSpPr>
        <p:spPr>
          <a:xfrm xmlns:a="http://schemas.openxmlformats.org/drawingml/2006/main">
            <a:off x="838200" y="18097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First Way: flow across the whole system</a:t>
            </a:r>
          </a:p>
        </p:txBody>
      </p:sp>
      <p:sp>
        <p:nvSpPr>
          <p:cNvPr id="4" name="block-1-text">
            <a:extLst xmlns:a="http://schemas.openxmlformats.org/drawingml/2006/main">
              <a:ext uri="{FF2B5EF4-FFF2-40B4-BE49-F238E27FC236}">
                <a16:creationId xmlns:a16="http://schemas.microsoft.com/office/drawing/2014/main" id="{904FD086-1173-4D03-BB4E-F913EDD653CD}"/>
              </a:ext>
            </a:extLst>
          </p:cNvPr>
          <p:cNvSpPr>
            <a:spLocks xmlns:a="http://schemas.openxmlformats.org/drawingml/2006/main" noGrp="1"/>
          </p:cNvSpPr>
          <p:nvPr/>
        </p:nvSpPr>
        <p:spPr>
          <a:xfrm xmlns:a="http://schemas.openxmlformats.org/drawingml/2006/main">
            <a:off x="838200" y="219075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Make work visible, limit work in progress, reduce batch sizes and handoffs, then improve the measured constraint.</a:t>
            </a:r>
          </a:p>
        </p:txBody>
      </p:sp>
      <p:sp>
        <p:nvSpPr>
          <p:cNvPr id="5" name="block-2-label">
            <a:extLst xmlns:a="http://schemas.openxmlformats.org/drawingml/2006/main">
              <a:ext uri="{FF2B5EF4-FFF2-40B4-BE49-F238E27FC236}">
                <a16:creationId xmlns:a16="http://schemas.microsoft.com/office/drawing/2014/main" id="{65CD7E34-14E6-4BC3-8439-8814E9F1A852}"/>
              </a:ext>
            </a:extLst>
          </p:cNvPr>
          <p:cNvSpPr>
            <a:spLocks xmlns:a="http://schemas.openxmlformats.org/drawingml/2006/main" noGrp="1"/>
          </p:cNvSpPr>
          <p:nvPr/>
        </p:nvSpPr>
        <p:spPr>
          <a:xfrm xmlns:a="http://schemas.openxmlformats.org/drawingml/2006/main">
            <a:off x="838200" y="330517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Proposed 12-week outcomes</a:t>
            </a:r>
          </a:p>
        </p:txBody>
      </p:sp>
      <p:sp>
        <p:nvSpPr>
          <p:cNvPr id="6" name="block-2-text">
            <a:extLst xmlns:a="http://schemas.openxmlformats.org/drawingml/2006/main">
              <a:ext uri="{FF2B5EF4-FFF2-40B4-BE49-F238E27FC236}">
                <a16:creationId xmlns:a16="http://schemas.microsoft.com/office/drawing/2014/main" id="{1C07FB1E-5EBF-4FC6-A2A6-30C950B787B1}"/>
              </a:ext>
            </a:extLst>
          </p:cNvPr>
          <p:cNvSpPr>
            <a:spLocks xmlns:a="http://schemas.openxmlformats.org/drawingml/2006/main" noGrp="1"/>
          </p:cNvSpPr>
          <p:nvPr/>
        </p:nvSpPr>
        <p:spPr>
          <a:xfrm xmlns:a="http://schemas.openxmlformats.org/drawingml/2006/main">
            <a:off x="838200" y="3686175"/>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Pilot: halve median commit-to-production time; deploy at least weekly; do not worsen the change failure rate; demonstrate rollback within 10 minutes. Baselines are unknown until weeks 1-2.</a:t>
            </a:r>
          </a:p>
        </p:txBody>
      </p:sp>
      <p:sp>
        <p:nvSpPr>
          <p:cNvPr id="7" name="block-3-label">
            <a:extLst xmlns:a="http://schemas.openxmlformats.org/drawingml/2006/main">
              <a:ext uri="{FF2B5EF4-FFF2-40B4-BE49-F238E27FC236}">
                <a16:creationId xmlns:a16="http://schemas.microsoft.com/office/drawing/2014/main" id="{26177700-F7FC-482D-A2CD-2A27A93F1D09}"/>
              </a:ext>
            </a:extLst>
          </p:cNvPr>
          <p:cNvSpPr>
            <a:spLocks xmlns:a="http://schemas.openxmlformats.org/drawingml/2006/main" noGrp="1"/>
          </p:cNvSpPr>
          <p:nvPr/>
        </p:nvSpPr>
        <p:spPr>
          <a:xfrm xmlns:a="http://schemas.openxmlformats.org/drawingml/2006/main">
            <a:off x="838200" y="480060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Pilot before scaling</a:t>
            </a:r>
          </a:p>
        </p:txBody>
      </p:sp>
      <p:sp>
        <p:nvSpPr>
          <p:cNvPr id="8" name="block-3-text">
            <a:extLst xmlns:a="http://schemas.openxmlformats.org/drawingml/2006/main">
              <a:ext uri="{FF2B5EF4-FFF2-40B4-BE49-F238E27FC236}">
                <a16:creationId xmlns:a16="http://schemas.microsoft.com/office/drawing/2014/main" id="{3C1D92C9-3F48-4EED-998F-DC26CB2F9648}"/>
              </a:ext>
            </a:extLst>
          </p:cNvPr>
          <p:cNvSpPr>
            <a:spLocks xmlns:a="http://schemas.openxmlformats.org/drawingml/2006/main" noGrp="1"/>
          </p:cNvSpPr>
          <p:nvPr/>
        </p:nvSpPr>
        <p:spPr>
          <a:xfrm xmlns:a="http://schemas.openxmlformats.org/drawingml/2006/main">
            <a:off x="838200" y="518160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Select one application and one critical user journey. Continue normal development; reserve pilot capacity rather than stop the whole company. Broader rollout depends on the pilot evidence.</a:t>
            </a:r>
          </a:p>
        </p:txBody>
      </p:sp>
      <p:sp>
        <p:nvSpPr>
          <p:cNvPr id="9" name="page-number">
            <a:extLst xmlns:a="http://schemas.openxmlformats.org/drawingml/2006/main">
              <a:ext uri="{FF2B5EF4-FFF2-40B4-BE49-F238E27FC236}">
                <a16:creationId xmlns:a16="http://schemas.microsoft.com/office/drawing/2014/main" id="{CAB2E0A7-D67A-445E-B516-B122E35A71A6}"/>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08</a:t>
            </a:r>
          </a:p>
        </p:txBody>
      </p:sp>
    </p:spTree>
    <p:extLst>
      <p:ext uri="{BB962C8B-B14F-4D97-AF65-F5344CB8AC3E}">
        <p14:creationId xmlns:p14="http://schemas.microsoft.com/office/powerpoint/2010/main" val="362512580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5D9BBB-CDEB-ABDA-A79E-7402DADFE450}"/>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2 - P1: Workflow and ownership</a:t>
            </a:r>
          </a:p>
        </p:txBody>
      </p:sp>
      <p:graphicFrame>
        <p:nvGraphicFramePr>
          <p:cNvPr id="3" name="">
            <a:extLst xmlns:a="http://schemas.openxmlformats.org/drawingml/2006/main">
              <a:ext uri="{FF2B5EF4-FFF2-40B4-BE49-F238E27FC236}">
                <a16:creationId xmlns:a16="http://schemas.microsoft.com/office/drawing/2014/main" id="{B4F817E1-38AA-41C3-946C-80E2FE09A88C}"/>
              </a:ext>
            </a:extLst>
          </p:cNvPr>
          <p:cNvGraphicFramePr/>
          <p:nvPr/>
        </p:nvGraphicFramePr>
        <p:xfrm>
          <a:off xmlns:a="http://schemas.openxmlformats.org/drawingml/2006/main" x="838200" y="1828800"/>
          <a:ext xmlns:a="http://schemas.openxmlformats.org/drawingml/2006/main" cx="10515600" cy="4191000"/>
        </p:xfrm>
        <a:graphic xmlns:a="http://schemas.openxmlformats.org/drawingml/2006/main">
          <a:graphicData uri="http://schemas.openxmlformats.org/drawingml/2006/table">
            <a:tbl>
              <a:tblPr/>
              <a:tblGrid>
                <a:gridCol w="2238375"/>
                <a:gridCol w="4000500"/>
                <a:gridCol w="4276725"/>
              </a:tblGrid>
              <a:tr h="495300">
                <a:tc>
                  <a:txBody>
                    <a:bodyPr>
                      <a:noAutofit/>
                    </a:bodyPr>
                    <a:lstStyle/>
                    <a:p>
                      <a:r>
                        <a:rPr sz="1800" b="1">
                          <a:solidFill>
                            <a:srgbClr val="000000"/>
                          </a:solidFill>
                          <a:latin typeface="Aptos"/>
                          <a:ea typeface="Aptos"/>
                          <a:cs typeface="Aptos"/>
                        </a:rPr>
                        <a:t>When / owner</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Action</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Output / acceptance</a:t>
                      </a:r>
                    </a:p>
                  </a:txBody>
                  <a:tcPr marL="114300" marR="114300" marT="47625" marB="47625" anchor="t">
                    <a:solidFill>
                      <a:srgbClr val="F2F2F2"/>
                    </a:solidFill>
                  </a:tcPr>
                </a:tc>
              </a:tr>
              <a:tr h="1231900">
                <a:tc>
                  <a:txBody>
                    <a:bodyPr>
                      <a:noAutofit/>
                    </a:bodyPr>
                    <a:lstStyle/>
                    <a:p>
                      <a:r>
                        <a:rPr sz="1800" b="0">
                          <a:solidFill>
                            <a:srgbClr val="000000"/>
                          </a:solidFill>
                          <a:latin typeface="Aptos"/>
                          <a:ea typeface="Aptos"/>
                          <a:cs typeface="Aptos"/>
                        </a:rPr>
                        <a:t>Weeks 1-2</a:t>
                      </a:r>
                    </a:p>
                    <a:p>
                      <a:r>
                        <a:rPr sz="1800" b="0">
                          <a:solidFill>
                            <a:srgbClr val="000000"/>
                          </a:solidFill>
                          <a:latin typeface="Aptos"/>
                          <a:ea typeface="Aptos"/>
                          <a:cs typeface="Aptos"/>
                        </a:rPr>
                        <a:t>Transformation lead + Sales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Interview all roles; map demand to production; nominate a Sales product owner</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Value-stream map; agreed priorities; named owners; baseline queue times</a:t>
                      </a:r>
                    </a:p>
                  </a:txBody>
                  <a:tcPr marL="114300" marR="114300" marT="47625" marB="47625" anchor="t">
                    <a:solidFill>
                      <a:srgbClr val="FFFFFF"/>
                    </a:solidFill>
                  </a:tcPr>
                </a:tc>
              </a:tr>
              <a:tr h="1231900">
                <a:tc>
                  <a:txBody>
                    <a:bodyPr>
                      <a:noAutofit/>
                    </a:bodyPr>
                    <a:lstStyle/>
                    <a:p>
                      <a:r>
                        <a:rPr sz="1800" b="0">
                          <a:solidFill>
                            <a:srgbClr val="000000"/>
                          </a:solidFill>
                          <a:latin typeface="Aptos"/>
                          <a:ea typeface="Aptos"/>
                          <a:cs typeface="Aptos"/>
                        </a:rPr>
                        <a:t>Week 2</a:t>
                      </a:r>
                    </a:p>
                    <a:p>
                      <a:r>
                        <a:rPr sz="1800" b="0">
                          <a:solidFill>
                            <a:srgbClr val="000000"/>
                          </a:solidFill>
                          <a:latin typeface="Aptos"/>
                          <a:ea typeface="Aptos"/>
                          <a:cs typeface="Aptos"/>
                        </a:rPr>
                        <a:t>Dev + Test + Ops leads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Create a pilot squad: 2 developers, 1 tester, 1 Ops engineer; Sales owns priorities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Squad charter; shared definition of done; release responsibility accepted</a:t>
                      </a:r>
                    </a:p>
                  </a:txBody>
                  <a:tcPr marL="114300" marR="114300" marT="47625" marB="47625" anchor="t">
                    <a:solidFill>
                      <a:srgbClr val="FFFFFF"/>
                    </a:solidFill>
                  </a:tcPr>
                </a:tc>
              </a:tr>
              <a:tr h="1231900">
                <a:tc>
                  <a:txBody>
                    <a:bodyPr>
                      <a:noAutofit/>
                    </a:bodyPr>
                    <a:lstStyle/>
                    <a:p>
                      <a:r>
                        <a:rPr sz="1800" b="0">
                          <a:solidFill>
                            <a:srgbClr val="000000"/>
                          </a:solidFill>
                          <a:latin typeface="Aptos"/>
                          <a:ea typeface="Aptos"/>
                          <a:cs typeface="Aptos"/>
                        </a:rPr>
                        <a:t>From week 2</a:t>
                      </a:r>
                    </a:p>
                    <a:p>
                      <a:r>
                        <a:rPr sz="1800" b="0">
                          <a:solidFill>
                            <a:srgbClr val="000000"/>
                          </a:solidFill>
                          <a:latin typeface="Aptos"/>
                          <a:ea typeface="Aptos"/>
                          <a:cs typeface="Aptos"/>
                        </a:rPr>
                        <a:t>Pilot squad</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Use one Kanban board; start with WIP &lt;= 3 active changes; unblock work daily</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Each change has owner and acceptance criteria; weekly review of aging work</a:t>
                      </a:r>
                    </a:p>
                  </a:txBody>
                  <a:tcPr marL="114300" marR="114300" marT="47625" marB="47625" anchor="t">
                    <a:solidFill>
                      <a:srgbClr val="FFFFFF"/>
                    </a:solidFill>
                  </a:tcPr>
                </a:tc>
              </a:tr>
            </a:tbl>
          </a:graphicData>
        </a:graphic>
      </p:graphicFrame>
      <p:sp>
        <p:nvSpPr>
          <p:cNvPr id="4" name="table-footnote">
            <a:extLst xmlns:a="http://schemas.openxmlformats.org/drawingml/2006/main">
              <a:ext uri="{FF2B5EF4-FFF2-40B4-BE49-F238E27FC236}">
                <a16:creationId xmlns:a16="http://schemas.microsoft.com/office/drawing/2014/main" id="{987FCDFD-7225-4589-A3BF-CD96F3444D49}"/>
              </a:ext>
            </a:extLst>
          </p:cNvPr>
          <p:cNvSpPr>
            <a:spLocks xmlns:a="http://schemas.openxmlformats.org/drawingml/2006/main" noGrp="1"/>
          </p:cNvSpPr>
          <p:nvPr/>
        </p:nvSpPr>
        <p:spPr>
          <a:xfrm xmlns:a="http://schemas.openxmlformats.org/drawingml/2006/main">
            <a:off x="838200" y="61531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95959"/>
                </a:solidFill>
                <a:latin typeface="Aptos"/>
                <a:ea typeface="Aptos"/>
                <a:cs typeface="Aptos"/>
              </a:defRPr>
            </a:defPPr>
          </a:lstStyle>
          <a:p xmlns:a="http://schemas.openxmlformats.org/drawingml/2006/main">
            <a:pPr algn="l">
              <a:defRPr sz="1600" b="0">
                <a:solidFill>
                  <a:srgbClr val="595959"/>
                </a:solidFill>
                <a:latin typeface="Aptos"/>
                <a:ea typeface="Aptos"/>
                <a:cs typeface="Aptos"/>
              </a:defRPr>
            </a:pPr>
            <a:r>
              <a:rPr sz="1600" b="0">
                <a:solidFill>
                  <a:srgbClr val="595959"/>
                </a:solidFill>
                <a:latin typeface="Aptos"/>
                <a:ea typeface="Aptos"/>
                <a:cs typeface="Aptos"/>
              </a:rPr>
              <a:t>Suggested tools: a shared issue board and wiki. Retain existing tools if they satisfy the requirements.</a:t>
            </a:r>
          </a:p>
        </p:txBody>
      </p:sp>
      <p:sp>
        <p:nvSpPr>
          <p:cNvPr id="5" name="page-number">
            <a:extLst xmlns:a="http://schemas.openxmlformats.org/drawingml/2006/main">
              <a:ext uri="{FF2B5EF4-FFF2-40B4-BE49-F238E27FC236}">
                <a16:creationId xmlns:a16="http://schemas.microsoft.com/office/drawing/2014/main" id="{1E44DF99-0D91-4063-87FB-0173DF1E0831}"/>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09</a:t>
            </a:r>
          </a:p>
        </p:txBody>
      </p:sp>
    </p:spTree>
    <p:extLst>
      <p:ext uri="{BB962C8B-B14F-4D97-AF65-F5344CB8AC3E}">
        <p14:creationId xmlns:p14="http://schemas.microsoft.com/office/powerpoint/2010/main" val="362512580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9D79D0-024C-2EE3-AFD1-9F8D4E796A1F}"/>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2 - P2: Build and test pipeline</a:t>
            </a:r>
          </a:p>
        </p:txBody>
      </p:sp>
      <p:sp>
        <p:nvSpPr>
          <p:cNvPr id="3" name="block-1-label">
            <a:extLst xmlns:a="http://schemas.openxmlformats.org/drawingml/2006/main">
              <a:ext uri="{FF2B5EF4-FFF2-40B4-BE49-F238E27FC236}">
                <a16:creationId xmlns:a16="http://schemas.microsoft.com/office/drawing/2014/main" id="{51F700B3-F478-45CC-BAC2-B73DDF9F988A}"/>
              </a:ext>
            </a:extLst>
          </p:cNvPr>
          <p:cNvSpPr>
            <a:spLocks xmlns:a="http://schemas.openxmlformats.org/drawingml/2006/main" noGrp="1"/>
          </p:cNvSpPr>
          <p:nvPr/>
        </p:nvSpPr>
        <p:spPr>
          <a:xfrm xmlns:a="http://schemas.openxmlformats.org/drawingml/2006/main">
            <a:off x="838200" y="18097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Weeks 3-5 | Dev lead + Test lead</a:t>
            </a:r>
          </a:p>
        </p:txBody>
      </p:sp>
      <p:sp>
        <p:nvSpPr>
          <p:cNvPr id="4" name="block-1-text">
            <a:extLst xmlns:a="http://schemas.openxmlformats.org/drawingml/2006/main">
              <a:ext uri="{FF2B5EF4-FFF2-40B4-BE49-F238E27FC236}">
                <a16:creationId xmlns:a16="http://schemas.microsoft.com/office/drawing/2014/main" id="{1DAF5BB7-EF7F-454C-8C18-D8C694C28770}"/>
              </a:ext>
            </a:extLst>
          </p:cNvPr>
          <p:cNvSpPr>
            <a:spLocks xmlns:a="http://schemas.openxmlformats.org/drawingml/2006/main" noGrp="1"/>
          </p:cNvSpPr>
          <p:nvPr/>
        </p:nvSpPr>
        <p:spPr>
          <a:xfrm xmlns:a="http://schemas.openxmlformats.org/drawingml/2006/main">
            <a:off x="838200" y="219075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Version application code, pipeline files and deployment scripts. Add peer review and required checks; integrate small changes daily. Proposed pilot tools: Git and GitHub Actions.</a:t>
            </a:r>
          </a:p>
        </p:txBody>
      </p:sp>
      <p:sp>
        <p:nvSpPr>
          <p:cNvPr id="5" name="block-2-label">
            <a:extLst xmlns:a="http://schemas.openxmlformats.org/drawingml/2006/main">
              <a:ext uri="{FF2B5EF4-FFF2-40B4-BE49-F238E27FC236}">
                <a16:creationId xmlns:a16="http://schemas.microsoft.com/office/drawing/2014/main" id="{99D3F9FB-C38E-4CF5-8527-57DEBC77DFE0}"/>
              </a:ext>
            </a:extLst>
          </p:cNvPr>
          <p:cNvSpPr>
            <a:spLocks xmlns:a="http://schemas.openxmlformats.org/drawingml/2006/main" noGrp="1"/>
          </p:cNvSpPr>
          <p:nvPr/>
        </p:nvSpPr>
        <p:spPr>
          <a:xfrm xmlns:a="http://schemas.openxmlformats.org/drawingml/2006/main">
            <a:off x="838200" y="330517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Executable path</a:t>
            </a:r>
          </a:p>
        </p:txBody>
      </p:sp>
      <p:sp>
        <p:nvSpPr>
          <p:cNvPr id="6" name="block-2-text">
            <a:extLst xmlns:a="http://schemas.openxmlformats.org/drawingml/2006/main">
              <a:ext uri="{FF2B5EF4-FFF2-40B4-BE49-F238E27FC236}">
                <a16:creationId xmlns:a16="http://schemas.microsoft.com/office/drawing/2014/main" id="{416C5C15-5D08-4F89-A2F7-4B721785EBE5}"/>
              </a:ext>
            </a:extLst>
          </p:cNvPr>
          <p:cNvSpPr>
            <a:spLocks xmlns:a="http://schemas.openxmlformats.org/drawingml/2006/main" noGrp="1"/>
          </p:cNvSpPr>
          <p:nvPr/>
        </p:nvSpPr>
        <p:spPr>
          <a:xfrm xmlns:a="http://schemas.openxmlformats.org/drawingml/2006/main">
            <a:off x="838200" y="3686175"/>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Commit -&gt; build -&gt; unit tests -&gt; integration tests against a test database -&gt; acceptance checks -&gt; versioned artifact -&gt; staging. Failed checks block release and return to the change owner.</a:t>
            </a:r>
          </a:p>
        </p:txBody>
      </p:sp>
      <p:sp>
        <p:nvSpPr>
          <p:cNvPr id="7" name="block-3-label">
            <a:extLst xmlns:a="http://schemas.openxmlformats.org/drawingml/2006/main">
              <a:ext uri="{FF2B5EF4-FFF2-40B4-BE49-F238E27FC236}">
                <a16:creationId xmlns:a16="http://schemas.microsoft.com/office/drawing/2014/main" id="{67EC8304-D5F9-455C-AE99-43B8654220DF}"/>
              </a:ext>
            </a:extLst>
          </p:cNvPr>
          <p:cNvSpPr>
            <a:spLocks xmlns:a="http://schemas.openxmlformats.org/drawingml/2006/main" noGrp="1"/>
          </p:cNvSpPr>
          <p:nvPr/>
        </p:nvSpPr>
        <p:spPr>
          <a:xfrm xmlns:a="http://schemas.openxmlformats.org/drawingml/2006/main">
            <a:off x="838200" y="480060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Acceptance and documents</a:t>
            </a:r>
          </a:p>
        </p:txBody>
      </p:sp>
      <p:sp>
        <p:nvSpPr>
          <p:cNvPr id="8" name="block-3-text">
            <a:extLst xmlns:a="http://schemas.openxmlformats.org/drawingml/2006/main">
              <a:ext uri="{FF2B5EF4-FFF2-40B4-BE49-F238E27FC236}">
                <a16:creationId xmlns:a16="http://schemas.microsoft.com/office/drawing/2014/main" id="{323E4C87-592E-44B7-BDBC-4A88A414039F}"/>
              </a:ext>
            </a:extLst>
          </p:cNvPr>
          <p:cNvSpPr>
            <a:spLocks xmlns:a="http://schemas.openxmlformats.org/drawingml/2006/main" noGrp="1"/>
          </p:cNvSpPr>
          <p:nvPr/>
        </p:nvSpPr>
        <p:spPr>
          <a:xfrm xmlns:a="http://schemas.openxmlformats.org/drawingml/2006/main">
            <a:off x="838200" y="518160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The pilot critical journey passes automatically in staging. Test all three applications when shared schemas change. Publish pipeline setup, test ownership and a release checklist; retain exploratory acceptance testing.</a:t>
            </a:r>
          </a:p>
        </p:txBody>
      </p:sp>
      <p:sp>
        <p:nvSpPr>
          <p:cNvPr id="9" name="page-number">
            <a:extLst xmlns:a="http://schemas.openxmlformats.org/drawingml/2006/main">
              <a:ext uri="{FF2B5EF4-FFF2-40B4-BE49-F238E27FC236}">
                <a16:creationId xmlns:a16="http://schemas.microsoft.com/office/drawing/2014/main" id="{BA373AC5-2FFC-44E7-9142-2FC024792689}"/>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10</a:t>
            </a:r>
          </a:p>
        </p:txBody>
      </p:sp>
    </p:spTree>
    <p:extLst>
      <p:ext uri="{BB962C8B-B14F-4D97-AF65-F5344CB8AC3E}">
        <p14:creationId xmlns:p14="http://schemas.microsoft.com/office/powerpoint/2010/main" val="410761982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9D79D0-024C-2EE3-AFD1-9F8D4E796A1F}"/>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2 - P3: Safe cloud releases</a:t>
            </a:r>
          </a:p>
        </p:txBody>
      </p:sp>
      <p:sp>
        <p:nvSpPr>
          <p:cNvPr id="3" name="block-1-label">
            <a:extLst xmlns:a="http://schemas.openxmlformats.org/drawingml/2006/main">
              <a:ext uri="{FF2B5EF4-FFF2-40B4-BE49-F238E27FC236}">
                <a16:creationId xmlns:a16="http://schemas.microsoft.com/office/drawing/2014/main" id="{85E1943E-982F-4C7C-9E34-B4391C62837E}"/>
              </a:ext>
            </a:extLst>
          </p:cNvPr>
          <p:cNvSpPr>
            <a:spLocks xmlns:a="http://schemas.openxmlformats.org/drawingml/2006/main" noGrp="1"/>
          </p:cNvSpPr>
          <p:nvPr/>
        </p:nvSpPr>
        <p:spPr>
          <a:xfrm xmlns:a="http://schemas.openxmlformats.org/drawingml/2006/main">
            <a:off x="838200" y="18097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Weeks 4-6 | Ops lead + database owner</a:t>
            </a:r>
          </a:p>
        </p:txBody>
      </p:sp>
      <p:sp>
        <p:nvSpPr>
          <p:cNvPr id="4" name="block-1-text">
            <a:extLst xmlns:a="http://schemas.openxmlformats.org/drawingml/2006/main">
              <a:ext uri="{FF2B5EF4-FFF2-40B4-BE49-F238E27FC236}">
                <a16:creationId xmlns:a16="http://schemas.microsoft.com/office/drawing/2014/main" id="{36AF4200-7E21-4BB9-9AF4-24BE54ED2D28}"/>
              </a:ext>
            </a:extLst>
          </p:cNvPr>
          <p:cNvSpPr>
            <a:spLocks xmlns:a="http://schemas.openxmlformats.org/drawingml/2006/main" noGrp="1"/>
          </p:cNvSpPr>
          <p:nvPr/>
        </p:nvSpPr>
        <p:spPr>
          <a:xfrm xmlns:a="http://schemas.openxmlformats.org/drawingml/2006/main">
            <a:off x="838200" y="219075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Create a reproducible staging environment and versioned infrastructure configuration; propose Terraform on existing Google Cloud. Add versioned migrations and compatibility checks for all three applications.</a:t>
            </a:r>
          </a:p>
        </p:txBody>
      </p:sp>
      <p:sp>
        <p:nvSpPr>
          <p:cNvPr id="5" name="block-2-label">
            <a:extLst xmlns:a="http://schemas.openxmlformats.org/drawingml/2006/main">
              <a:ext uri="{FF2B5EF4-FFF2-40B4-BE49-F238E27FC236}">
                <a16:creationId xmlns:a16="http://schemas.microsoft.com/office/drawing/2014/main" id="{73ACDC44-7606-475E-BB10-25AFF2F77CB9}"/>
              </a:ext>
            </a:extLst>
          </p:cNvPr>
          <p:cNvSpPr>
            <a:spLocks xmlns:a="http://schemas.openxmlformats.org/drawingml/2006/main" noGrp="1"/>
          </p:cNvSpPr>
          <p:nvPr/>
        </p:nvSpPr>
        <p:spPr>
          <a:xfrm xmlns:a="http://schemas.openxmlformats.org/drawingml/2006/main">
            <a:off x="838200" y="330517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Production release control</a:t>
            </a:r>
          </a:p>
        </p:txBody>
      </p:sp>
      <p:sp>
        <p:nvSpPr>
          <p:cNvPr id="6" name="block-2-text">
            <a:extLst xmlns:a="http://schemas.openxmlformats.org/drawingml/2006/main">
              <a:ext uri="{FF2B5EF4-FFF2-40B4-BE49-F238E27FC236}">
                <a16:creationId xmlns:a16="http://schemas.microsoft.com/office/drawing/2014/main" id="{62F105A5-BBA0-4B4C-884A-B6598828B9CC}"/>
              </a:ext>
            </a:extLst>
          </p:cNvPr>
          <p:cNvSpPr>
            <a:spLocks xmlns:a="http://schemas.openxmlformats.org/drawingml/2006/main" noGrp="1"/>
          </p:cNvSpPr>
          <p:nvPr/>
        </p:nvSpPr>
        <p:spPr>
          <a:xfrm xmlns:a="http://schemas.openxmlformats.org/drawingml/2006/main">
            <a:off x="838200" y="3686175"/>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Promote the tested artifact after a named Ops approver signs the checklist. Release one small change at a time; observe errors and latency. Revert the application if the agreed guardrail is breached.</a:t>
            </a:r>
          </a:p>
        </p:txBody>
      </p:sp>
      <p:sp>
        <p:nvSpPr>
          <p:cNvPr id="7" name="block-3-label">
            <a:extLst xmlns:a="http://schemas.openxmlformats.org/drawingml/2006/main">
              <a:ext uri="{FF2B5EF4-FFF2-40B4-BE49-F238E27FC236}">
                <a16:creationId xmlns:a16="http://schemas.microsoft.com/office/drawing/2014/main" id="{2AC6B503-E7FF-457A-84F8-2CB0B24B76E5}"/>
              </a:ext>
            </a:extLst>
          </p:cNvPr>
          <p:cNvSpPr>
            <a:spLocks xmlns:a="http://schemas.openxmlformats.org/drawingml/2006/main" noGrp="1"/>
          </p:cNvSpPr>
          <p:nvPr/>
        </p:nvSpPr>
        <p:spPr>
          <a:xfrm xmlns:a="http://schemas.openxmlformats.org/drawingml/2006/main">
            <a:off x="838200" y="480060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Acceptance and recovery</a:t>
            </a:r>
          </a:p>
        </p:txBody>
      </p:sp>
      <p:sp>
        <p:nvSpPr>
          <p:cNvPr id="8" name="block-3-text">
            <a:extLst xmlns:a="http://schemas.openxmlformats.org/drawingml/2006/main">
              <a:ext uri="{FF2B5EF4-FFF2-40B4-BE49-F238E27FC236}">
                <a16:creationId xmlns:a16="http://schemas.microsoft.com/office/drawing/2014/main" id="{4AD5B39B-3141-4B61-B191-D7B05A17C84C}"/>
              </a:ext>
            </a:extLst>
          </p:cNvPr>
          <p:cNvSpPr>
            <a:spLocks xmlns:a="http://schemas.openxmlformats.org/drawingml/2006/main" noGrp="1"/>
          </p:cNvSpPr>
          <p:nvPr/>
        </p:nvSpPr>
        <p:spPr>
          <a:xfrm xmlns:a="http://schemas.openxmlformats.org/drawingml/2006/main">
            <a:off x="838200" y="518160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Rehearse release, application rollback and database restore in staging. Publish a runbook with alert contacts. Keep incompatible schema removal out of the pilot; application rollback does not automatically undo data changes.</a:t>
            </a:r>
          </a:p>
        </p:txBody>
      </p:sp>
      <p:sp>
        <p:nvSpPr>
          <p:cNvPr id="9" name="page-number">
            <a:extLst xmlns:a="http://schemas.openxmlformats.org/drawingml/2006/main">
              <a:ext uri="{FF2B5EF4-FFF2-40B4-BE49-F238E27FC236}">
                <a16:creationId xmlns:a16="http://schemas.microsoft.com/office/drawing/2014/main" id="{9DF318E7-B9C7-4A2A-A5D8-52F259CA9454}"/>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11</a:t>
            </a:r>
          </a:p>
        </p:txBody>
      </p:sp>
    </p:spTree>
    <p:extLst>
      <p:ext uri="{BB962C8B-B14F-4D97-AF65-F5344CB8AC3E}">
        <p14:creationId xmlns:p14="http://schemas.microsoft.com/office/powerpoint/2010/main" val="410761982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9D79D0-024C-2EE3-AFD1-9F8D4E796A1F}"/>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2 - P4: Measurement and feedback</a:t>
            </a:r>
          </a:p>
        </p:txBody>
      </p:sp>
      <p:graphicFrame>
        <p:nvGraphicFramePr>
          <p:cNvPr id="3" name="">
            <a:extLst xmlns:a="http://schemas.openxmlformats.org/drawingml/2006/main">
              <a:ext uri="{FF2B5EF4-FFF2-40B4-BE49-F238E27FC236}">
                <a16:creationId xmlns:a16="http://schemas.microsoft.com/office/drawing/2014/main" id="{E5D96835-FB43-4C12-8C3F-6213CEA3AF8C}"/>
              </a:ext>
            </a:extLst>
          </p:cNvPr>
          <p:cNvGraphicFramePr/>
          <p:nvPr/>
        </p:nvGraphicFramePr>
        <p:xfrm>
          <a:off xmlns:a="http://schemas.openxmlformats.org/drawingml/2006/main" x="838200" y="1828800"/>
          <a:ext xmlns:a="http://schemas.openxmlformats.org/drawingml/2006/main" cx="10515600" cy="4191000"/>
        </p:xfrm>
        <a:graphic xmlns:a="http://schemas.openxmlformats.org/drawingml/2006/main">
          <a:graphicData uri="http://schemas.openxmlformats.org/drawingml/2006/table">
            <a:tbl>
              <a:tblPr/>
              <a:tblGrid>
                <a:gridCol w="3524250"/>
                <a:gridCol w="3143250"/>
                <a:gridCol w="3848100"/>
              </a:tblGrid>
              <a:tr h="495300">
                <a:tc>
                  <a:txBody>
                    <a:bodyPr>
                      <a:noAutofit/>
                    </a:bodyPr>
                    <a:lstStyle/>
                    <a:p>
                      <a:r>
                        <a:rPr sz="1800" b="1">
                          <a:solidFill>
                            <a:srgbClr val="000000"/>
                          </a:solidFill>
                          <a:latin typeface="Aptos"/>
                          <a:ea typeface="Aptos"/>
                          <a:cs typeface="Aptos"/>
                        </a:rPr>
                        <a:t>Measure / definition</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Collection and owner</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Review / proposed target</a:t>
                      </a:r>
                    </a:p>
                  </a:txBody>
                  <a:tcPr marL="114300" marR="114300" marT="47625" marB="47625" anchor="t">
                    <a:solidFill>
                      <a:srgbClr val="F2F2F2"/>
                    </a:solidFill>
                  </a:tcPr>
                </a:tc>
              </a:tr>
              <a:tr h="923925">
                <a:tc>
                  <a:txBody>
                    <a:bodyPr>
                      <a:noAutofit/>
                    </a:bodyPr>
                    <a:lstStyle/>
                    <a:p>
                      <a:r>
                        <a:rPr sz="1800" b="0">
                          <a:solidFill>
                            <a:srgbClr val="000000"/>
                          </a:solidFill>
                          <a:latin typeface="Aptos"/>
                          <a:ea typeface="Aptos"/>
                          <a:cs typeface="Aptos"/>
                        </a:rPr>
                        <a:t>Lead time for change</a:t>
                      </a:r>
                    </a:p>
                    <a:p>
                      <a:r>
                        <a:rPr sz="1800" b="0">
                          <a:solidFill>
                            <a:srgbClr val="000000"/>
                          </a:solidFill>
                          <a:latin typeface="Aptos"/>
                          <a:ea typeface="Aptos"/>
                          <a:cs typeface="Aptos"/>
                        </a:rPr>
                        <a:t>Median commit-to-production time</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Git + deployment timestamps</a:t>
                      </a:r>
                    </a:p>
                    <a:p>
                      <a:r>
                        <a:rPr sz="1800" b="0">
                          <a:solidFill>
                            <a:srgbClr val="000000"/>
                          </a:solidFill>
                          <a:latin typeface="Aptos"/>
                          <a:ea typeface="Aptos"/>
                          <a:cs typeface="Aptos"/>
                        </a:rPr>
                        <a:t>Dev lead</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Weekly comparison to weeks 1-2</a:t>
                      </a:r>
                    </a:p>
                    <a:p>
                      <a:r>
                        <a:rPr sz="1800" b="0">
                          <a:solidFill>
                            <a:srgbClr val="000000"/>
                          </a:solidFill>
                          <a:latin typeface="Aptos"/>
                          <a:ea typeface="Aptos"/>
                          <a:cs typeface="Aptos"/>
                        </a:rPr>
                        <a:t>50% lower by week 12</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Deployment frequency</a:t>
                      </a:r>
                    </a:p>
                    <a:p>
                      <a:r>
                        <a:rPr sz="1800" b="0">
                          <a:solidFill>
                            <a:srgbClr val="000000"/>
                          </a:solidFill>
                          <a:latin typeface="Aptos"/>
                          <a:ea typeface="Aptos"/>
                          <a:cs typeface="Aptos"/>
                        </a:rPr>
                        <a:t>Production deployments per week</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Release log</a:t>
                      </a:r>
                    </a:p>
                    <a:p>
                      <a:r>
                        <a:rPr sz="1800" b="0">
                          <a:solidFill>
                            <a:srgbClr val="000000"/>
                          </a:solidFill>
                          <a:latin typeface="Aptos"/>
                          <a:ea typeface="Aptos"/>
                          <a:cs typeface="Aptos"/>
                        </a:rPr>
                        <a:t>Ops lead</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Weekly pilot release from week 6</a:t>
                      </a:r>
                    </a:p>
                    <a:p>
                      <a:r>
                        <a:rPr sz="1800" b="0">
                          <a:solidFill>
                            <a:srgbClr val="000000"/>
                          </a:solidFill>
                          <a:latin typeface="Aptos"/>
                          <a:ea typeface="Aptos"/>
                          <a:cs typeface="Aptos"/>
                        </a:rPr>
                        <a:t>Only when release gates pass</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Change failure rate</a:t>
                      </a:r>
                    </a:p>
                    <a:p>
                      <a:r>
                        <a:rPr sz="1800" b="0">
                          <a:solidFill>
                            <a:srgbClr val="000000"/>
                          </a:solidFill>
                          <a:latin typeface="Aptos"/>
                          <a:ea typeface="Aptos"/>
                          <a:cs typeface="Aptos"/>
                        </a:rPr>
                        <a:t>Remediation-causing deployments / total</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Linked incidents + release log</a:t>
                      </a:r>
                    </a:p>
                    <a:p>
                      <a:r>
                        <a:rPr sz="1800" b="0">
                          <a:solidFill>
                            <a:srgbClr val="000000"/>
                          </a:solidFill>
                          <a:latin typeface="Aptos"/>
                          <a:ea typeface="Aptos"/>
                          <a:cs typeface="Aptos"/>
                        </a:rPr>
                        <a:t>Ops + Test leads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No increase against baseline</a:t>
                      </a:r>
                    </a:p>
                    <a:p>
                      <a:r>
                        <a:rPr sz="1800" b="0">
                          <a:solidFill>
                            <a:srgbClr val="000000"/>
                          </a:solidFill>
                          <a:latin typeface="Aptos"/>
                          <a:ea typeface="Aptos"/>
                          <a:cs typeface="Aptos"/>
                        </a:rPr>
                        <a:t>Always show counts and sample size</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Recovery time</a:t>
                      </a:r>
                    </a:p>
                    <a:p>
                      <a:r>
                        <a:rPr sz="1800" b="0">
                          <a:solidFill>
                            <a:srgbClr val="000000"/>
                          </a:solidFill>
                          <a:latin typeface="Aptos"/>
                          <a:ea typeface="Aptos"/>
                          <a:cs typeface="Aptos"/>
                        </a:rPr>
                        <a:t>Incident start to service restoration</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Alert + recovery timestamps</a:t>
                      </a:r>
                    </a:p>
                    <a:p>
                      <a:r>
                        <a:rPr sz="1800" b="0">
                          <a:solidFill>
                            <a:srgbClr val="000000"/>
                          </a:solidFill>
                          <a:latin typeface="Aptos"/>
                          <a:ea typeface="Aptos"/>
                          <a:cs typeface="Aptos"/>
                        </a:rPr>
                        <a:t>Ops lead</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Trend recovery weekly.</a:t>
                      </a:r>
                    </a:p>
                    <a:p>
                      <a:r>
                        <a:rPr sz="1800" b="0">
                          <a:solidFill>
                            <a:srgbClr val="000000"/>
                          </a:solidFill>
                          <a:latin typeface="Aptos"/>
                          <a:ea typeface="Aptos"/>
                          <a:cs typeface="Aptos"/>
                        </a:rPr>
                        <a:t>Rollback drill &lt;= 10 min.</a:t>
                      </a:r>
                    </a:p>
                    <a:p>
                      <a:r>
                        <a:rPr sz="1800" b="0">
                          <a:solidFill>
                            <a:srgbClr val="000000"/>
                          </a:solidFill>
                          <a:latin typeface="Aptos"/>
                          <a:ea typeface="Aptos"/>
                          <a:cs typeface="Aptos"/>
                        </a:rPr>
                        <a:t>Report drills separately.</a:t>
                      </a:r>
                    </a:p>
                  </a:txBody>
                  <a:tcPr marL="114300" marR="114300" marT="47625" marB="47625" anchor="t">
                    <a:solidFill>
                      <a:srgbClr val="FFFFFF"/>
                    </a:solidFill>
                  </a:tcPr>
                </a:tc>
              </a:tr>
            </a:tbl>
          </a:graphicData>
        </a:graphic>
      </p:graphicFrame>
      <p:sp>
        <p:nvSpPr>
          <p:cNvPr id="4" name="table-footnote">
            <a:extLst xmlns:a="http://schemas.openxmlformats.org/drawingml/2006/main">
              <a:ext uri="{FF2B5EF4-FFF2-40B4-BE49-F238E27FC236}">
                <a16:creationId xmlns:a16="http://schemas.microsoft.com/office/drawing/2014/main" id="{DF1029CC-6472-4E0B-9AB6-BF16418C14BF}"/>
              </a:ext>
            </a:extLst>
          </p:cNvPr>
          <p:cNvSpPr>
            <a:spLocks xmlns:a="http://schemas.openxmlformats.org/drawingml/2006/main" noGrp="1"/>
          </p:cNvSpPr>
          <p:nvPr/>
        </p:nvSpPr>
        <p:spPr>
          <a:xfrm xmlns:a="http://schemas.openxmlformats.org/drawingml/2006/main">
            <a:off x="838200" y="61531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95959"/>
                </a:solidFill>
                <a:latin typeface="Aptos"/>
                <a:ea typeface="Aptos"/>
                <a:cs typeface="Aptos"/>
              </a:defRPr>
            </a:defPPr>
          </a:lstStyle>
          <a:p xmlns:a="http://schemas.openxmlformats.org/drawingml/2006/main">
            <a:pPr algn="l">
              <a:defRPr sz="1600" b="0">
                <a:solidFill>
                  <a:srgbClr val="595959"/>
                </a:solidFill>
                <a:latin typeface="Aptos"/>
                <a:ea typeface="Aptos"/>
                <a:cs typeface="Aptos"/>
              </a:defRPr>
            </a:pPr>
            <a:r>
              <a:rPr sz="1600" b="0">
                <a:solidFill>
                  <a:srgbClr val="595959"/>
                </a:solidFill>
                <a:latin typeface="Aptos"/>
                <a:ea typeface="Aptos"/>
                <a:cs typeface="Aptos"/>
              </a:rPr>
              <a:t>Sales reviews support themes weekly and puts user feedback into the shared backlog. Targets are proposals.</a:t>
            </a:r>
          </a:p>
        </p:txBody>
      </p:sp>
      <p:sp>
        <p:nvSpPr>
          <p:cNvPr id="5" name="page-number">
            <a:extLst xmlns:a="http://schemas.openxmlformats.org/drawingml/2006/main">
              <a:ext uri="{FF2B5EF4-FFF2-40B4-BE49-F238E27FC236}">
                <a16:creationId xmlns:a16="http://schemas.microsoft.com/office/drawing/2014/main" id="{2B0768C9-CCE7-4507-BFE3-F5F4262F9100}"/>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12</a:t>
            </a:r>
          </a:p>
        </p:txBody>
      </p:sp>
    </p:spTree>
    <p:extLst>
      <p:ext uri="{BB962C8B-B14F-4D97-AF65-F5344CB8AC3E}">
        <p14:creationId xmlns:p14="http://schemas.microsoft.com/office/powerpoint/2010/main" val="410761982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9D79D0-024C-2EE3-AFD1-9F8D4E796A1F}"/>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2 - Resources and rollout gates</a:t>
            </a:r>
          </a:p>
        </p:txBody>
      </p:sp>
      <p:sp>
        <p:nvSpPr>
          <p:cNvPr id="3" name="block-1-label">
            <a:extLst xmlns:a="http://schemas.openxmlformats.org/drawingml/2006/main">
              <a:ext uri="{FF2B5EF4-FFF2-40B4-BE49-F238E27FC236}">
                <a16:creationId xmlns:a16="http://schemas.microsoft.com/office/drawing/2014/main" id="{6BEFD212-40F1-4288-8535-DDEEB385FF14}"/>
              </a:ext>
            </a:extLst>
          </p:cNvPr>
          <p:cNvSpPr>
            <a:spLocks xmlns:a="http://schemas.openxmlformats.org/drawingml/2006/main" noGrp="1"/>
          </p:cNvSpPr>
          <p:nvPr/>
        </p:nvSpPr>
        <p:spPr>
          <a:xfrm xmlns:a="http://schemas.openxmlformats.org/drawingml/2006/main">
            <a:off x="838200" y="18097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Proposed allocation | CEO + department heads</a:t>
            </a:r>
          </a:p>
        </p:txBody>
      </p:sp>
      <p:sp>
        <p:nvSpPr>
          <p:cNvPr id="4" name="block-1-text">
            <a:extLst xmlns:a="http://schemas.openxmlformats.org/drawingml/2006/main">
              <a:ext uri="{FF2B5EF4-FFF2-40B4-BE49-F238E27FC236}">
                <a16:creationId xmlns:a16="http://schemas.microsoft.com/office/drawing/2014/main" id="{62F4C032-88A9-4F09-A8A5-ED0DFAAC0C28}"/>
              </a:ext>
            </a:extLst>
          </p:cNvPr>
          <p:cNvSpPr>
            <a:spLocks xmlns:a="http://schemas.openxmlformats.org/drawingml/2006/main" noGrp="1"/>
          </p:cNvSpPr>
          <p:nvPr/>
        </p:nvSpPr>
        <p:spPr>
          <a:xfrm xmlns:a="http://schemas.openxmlformats.org/drawingml/2006/main">
            <a:off x="838200" y="219075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Pilot: two developers, one tester and one Ops engineer at 50% time; transformation lead at 20%. Sales product owner joins weekly prioritization. Confirm capacity and cloud budget in week 1.</a:t>
            </a:r>
          </a:p>
        </p:txBody>
      </p:sp>
      <p:sp>
        <p:nvSpPr>
          <p:cNvPr id="5" name="block-2-label">
            <a:extLst xmlns:a="http://schemas.openxmlformats.org/drawingml/2006/main">
              <a:ext uri="{FF2B5EF4-FFF2-40B4-BE49-F238E27FC236}">
                <a16:creationId xmlns:a16="http://schemas.microsoft.com/office/drawing/2014/main" id="{B3472C41-EC6E-4011-A06D-04F95AE176B7}"/>
              </a:ext>
            </a:extLst>
          </p:cNvPr>
          <p:cNvSpPr>
            <a:spLocks xmlns:a="http://schemas.openxmlformats.org/drawingml/2006/main" noGrp="1"/>
          </p:cNvSpPr>
          <p:nvPr/>
        </p:nvSpPr>
        <p:spPr>
          <a:xfrm xmlns:a="http://schemas.openxmlformats.org/drawingml/2006/main">
            <a:off x="838200" y="330517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Week 6 pilot gate | Ops + Test + Sales</a:t>
            </a:r>
          </a:p>
        </p:txBody>
      </p:sp>
      <p:sp>
        <p:nvSpPr>
          <p:cNvPr id="6" name="block-2-text">
            <a:extLst xmlns:a="http://schemas.openxmlformats.org/drawingml/2006/main">
              <a:ext uri="{FF2B5EF4-FFF2-40B4-BE49-F238E27FC236}">
                <a16:creationId xmlns:a16="http://schemas.microsoft.com/office/drawing/2014/main" id="{FEE78A13-6D7C-486C-8BEA-CE2FFF4EB25F}"/>
              </a:ext>
            </a:extLst>
          </p:cNvPr>
          <p:cNvSpPr>
            <a:spLocks xmlns:a="http://schemas.openxmlformats.org/drawingml/2006/main" noGrp="1"/>
          </p:cNvSpPr>
          <p:nvPr/>
        </p:nvSpPr>
        <p:spPr>
          <a:xfrm xmlns:a="http://schemas.openxmlformats.org/drawingml/2006/main">
            <a:off x="838200" y="3686175"/>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Required checks pass; all-app schema tests pass; two staging release/rollback drills succeed; runbook and alert ownership are agreed. Then approve the first small production release.</a:t>
            </a:r>
          </a:p>
        </p:txBody>
      </p:sp>
      <p:sp>
        <p:nvSpPr>
          <p:cNvPr id="7" name="block-3-label">
            <a:extLst xmlns:a="http://schemas.openxmlformats.org/drawingml/2006/main">
              <a:ext uri="{FF2B5EF4-FFF2-40B4-BE49-F238E27FC236}">
                <a16:creationId xmlns:a16="http://schemas.microsoft.com/office/drawing/2014/main" id="{9CBCFC9E-7514-45CD-9245-E4198BDD9BC2}"/>
              </a:ext>
            </a:extLst>
          </p:cNvPr>
          <p:cNvSpPr>
            <a:spLocks xmlns:a="http://schemas.openxmlformats.org/drawingml/2006/main" noGrp="1"/>
          </p:cNvSpPr>
          <p:nvPr/>
        </p:nvSpPr>
        <p:spPr>
          <a:xfrm xmlns:a="http://schemas.openxmlformats.org/drawingml/2006/main">
            <a:off x="838200" y="480060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Weeks 7-12 | Transformation lead</a:t>
            </a:r>
          </a:p>
        </p:txBody>
      </p:sp>
      <p:sp>
        <p:nvSpPr>
          <p:cNvPr id="8" name="block-3-text">
            <a:extLst xmlns:a="http://schemas.openxmlformats.org/drawingml/2006/main">
              <a:ext uri="{FF2B5EF4-FFF2-40B4-BE49-F238E27FC236}">
                <a16:creationId xmlns:a16="http://schemas.microsoft.com/office/drawing/2014/main" id="{08E97F63-7B0B-4FE3-943E-A9AD60F4C056}"/>
              </a:ext>
            </a:extLst>
          </p:cNvPr>
          <p:cNvSpPr>
            <a:spLocks xmlns:a="http://schemas.openxmlformats.org/drawingml/2006/main" noGrp="1"/>
          </p:cNvSpPr>
          <p:nvPr/>
        </p:nvSpPr>
        <p:spPr>
          <a:xfrm xmlns:a="http://schemas.openxmlformats.org/drawingml/2006/main">
            <a:off x="838200" y="518160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Collect two weeks of live pilot evidence, then onboard the second team in weeks 9-10 and the third in weeks 11-12 if gates pass. If reliability worsens, defer rollout and fix the constraint.</a:t>
            </a:r>
          </a:p>
        </p:txBody>
      </p:sp>
      <p:sp>
        <p:nvSpPr>
          <p:cNvPr id="9" name="page-number">
            <a:extLst xmlns:a="http://schemas.openxmlformats.org/drawingml/2006/main">
              <a:ext uri="{FF2B5EF4-FFF2-40B4-BE49-F238E27FC236}">
                <a16:creationId xmlns:a16="http://schemas.microsoft.com/office/drawing/2014/main" id="{00778FF2-9512-41BE-949D-2C96737E9D21}"/>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13</a:t>
            </a:r>
          </a:p>
        </p:txBody>
      </p:sp>
    </p:spTree>
    <p:extLst>
      <p:ext uri="{BB962C8B-B14F-4D97-AF65-F5344CB8AC3E}">
        <p14:creationId xmlns:p14="http://schemas.microsoft.com/office/powerpoint/2010/main" val="410761982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D11FB6-24BC-CF75-5EEE-B8FD006B2D87}"/>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3 - Evaluate the original plan</a:t>
            </a:r>
            <a:endParaRPr sz="2500"/>
          </a:p>
        </p:txBody>
      </p:sp>
      <p:graphicFrame>
        <p:nvGraphicFramePr>
          <p:cNvPr id="3" name="">
            <a:extLst xmlns:a="http://schemas.openxmlformats.org/drawingml/2006/main">
              <a:ext uri="{FF2B5EF4-FFF2-40B4-BE49-F238E27FC236}">
                <a16:creationId xmlns:a16="http://schemas.microsoft.com/office/drawing/2014/main" id="{D96B5149-2333-476C-99F5-9C0E2162B656}"/>
              </a:ext>
            </a:extLst>
          </p:cNvPr>
          <p:cNvGraphicFramePr/>
          <p:nvPr/>
        </p:nvGraphicFramePr>
        <p:xfrm>
          <a:off xmlns:a="http://schemas.openxmlformats.org/drawingml/2006/main" x="838200" y="1828800"/>
          <a:ext xmlns:a="http://schemas.openxmlformats.org/drawingml/2006/main" cx="10515600" cy="4191000"/>
        </p:xfrm>
        <a:graphic xmlns:a="http://schemas.openxmlformats.org/drawingml/2006/main">
          <a:graphicData uri="http://schemas.openxmlformats.org/drawingml/2006/table">
            <a:tbl>
              <a:tblPr/>
              <a:tblGrid>
                <a:gridCol w="2333625"/>
                <a:gridCol w="4476750"/>
                <a:gridCol w="3705225"/>
              </a:tblGrid>
              <a:tr h="495300">
                <a:tc>
                  <a:txBody>
                    <a:bodyPr>
                      <a:noAutofit/>
                    </a:bodyPr>
                    <a:lstStyle/>
                    <a:p>
                      <a:r>
                        <a:rPr sz="1800" b="1">
                          <a:solidFill>
                            <a:srgbClr val="000000"/>
                          </a:solidFill>
                          <a:latin typeface="Aptos"/>
                          <a:ea typeface="Aptos"/>
                          <a:cs typeface="Aptos"/>
                        </a:rPr>
                        <a:t>Existing item</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Effect on experimentation / learning</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Revision to the plan</a:t>
                      </a:r>
                    </a:p>
                  </a:txBody>
                  <a:tcPr marL="114300" marR="114300" marT="47625" marB="47625" anchor="t">
                    <a:solidFill>
                      <a:srgbClr val="F2F2F2"/>
                    </a:solidFill>
                  </a:tcPr>
                </a:tc>
              </a:tr>
              <a:tr h="923925">
                <a:tc>
                  <a:txBody>
                    <a:bodyPr>
                      <a:noAutofit/>
                    </a:bodyPr>
                    <a:lstStyle/>
                    <a:p>
                      <a:r>
                        <a:rPr sz="1800" b="0">
                          <a:solidFill>
                            <a:srgbClr val="000000"/>
                          </a:solidFill>
                          <a:latin typeface="Aptos"/>
                          <a:ea typeface="Aptos"/>
                          <a:cs typeface="Aptos"/>
                        </a:rPr>
                        <a:t>P1 Shared board and squad</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Positive: exposes queues and different perspectives. Negative: WIP can crowd out learning.</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Reserve learning capacity; vary WIP in a documented experiment.</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P2 Automated tests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Positive: quick evidence about defects. Negative: teams may treat green tests as complete assurance.</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Pair Dev/Test; review escaped defects; add new regression cases.</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P3 Release gates and standard tools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Positive: safe experiments and comparable logs. Negative: slow approvals or rigid standards block trials.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Delegate low-risk staging experiments; review gates and accept justified tool exceptions.</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P4 Metrics dashboard</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Positive: shows trends. Negative: rankings can encourage hiding problems.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Use team outcomes, include sample sizes, and discuss context without blame.</a:t>
                      </a:r>
                    </a:p>
                  </a:txBody>
                  <a:tcPr marL="114300" marR="114300" marT="47625" marB="47625" anchor="t">
                    <a:solidFill>
                      <a:srgbClr val="FFFFFF"/>
                    </a:solidFill>
                  </a:tcPr>
                </a:tc>
              </a:tr>
            </a:tbl>
          </a:graphicData>
        </a:graphic>
      </p:graphicFrame>
      <p:sp>
        <p:nvSpPr>
          <p:cNvPr id="4" name="table-footnote">
            <a:extLst xmlns:a="http://schemas.openxmlformats.org/drawingml/2006/main">
              <a:ext uri="{FF2B5EF4-FFF2-40B4-BE49-F238E27FC236}">
                <a16:creationId xmlns:a16="http://schemas.microsoft.com/office/drawing/2014/main" id="{DD87BE47-A001-4520-A3B4-6F580ACB699F}"/>
              </a:ext>
            </a:extLst>
          </p:cNvPr>
          <p:cNvSpPr>
            <a:spLocks xmlns:a="http://schemas.openxmlformats.org/drawingml/2006/main" noGrp="1"/>
          </p:cNvSpPr>
          <p:nvPr/>
        </p:nvSpPr>
        <p:spPr>
          <a:xfrm xmlns:a="http://schemas.openxmlformats.org/drawingml/2006/main">
            <a:off x="838200" y="61531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95959"/>
                </a:solidFill>
                <a:latin typeface="Aptos"/>
                <a:ea typeface="Aptos"/>
                <a:cs typeface="Aptos"/>
              </a:defRPr>
            </a:defPPr>
          </a:lstStyle>
          <a:p xmlns:a="http://schemas.openxmlformats.org/drawingml/2006/main">
            <a:pPr algn="l">
              <a:defRPr sz="1600" b="0">
                <a:solidFill>
                  <a:srgbClr val="595959"/>
                </a:solidFill>
                <a:latin typeface="Aptos"/>
                <a:ea typeface="Aptos"/>
                <a:cs typeface="Aptos"/>
              </a:defRPr>
            </a:pPr>
            <a:r>
              <a:rPr sz="1600" b="0">
                <a:solidFill>
                  <a:srgbClr val="595959"/>
                </a:solidFill>
                <a:latin typeface="Aptos"/>
                <a:ea typeface="Aptos"/>
                <a:cs typeface="Aptos"/>
              </a:rPr>
              <a:t>Culture suitability is unknown. Interviews and observed behavior must test assumption A3.</a:t>
            </a:r>
          </a:p>
        </p:txBody>
      </p:sp>
      <p:sp>
        <p:nvSpPr>
          <p:cNvPr id="5" name="page-number">
            <a:extLst xmlns:a="http://schemas.openxmlformats.org/drawingml/2006/main">
              <a:ext uri="{FF2B5EF4-FFF2-40B4-BE49-F238E27FC236}">
                <a16:creationId xmlns:a16="http://schemas.microsoft.com/office/drawing/2014/main" id="{354E8C07-9E0A-4BB2-B60F-8E86442210A5}"/>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14</a:t>
            </a:r>
          </a:p>
        </p:txBody>
      </p:sp>
    </p:spTree>
    <p:extLst>
      <p:ext uri="{BB962C8B-B14F-4D97-AF65-F5344CB8AC3E}">
        <p14:creationId xmlns:p14="http://schemas.microsoft.com/office/powerpoint/2010/main" val="328208557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460DBA-C88E-0581-9DD6-27A355E53F38}"/>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3 - New learning actions</a:t>
            </a:r>
            <a:endParaRPr sz="2500"/>
          </a:p>
        </p:txBody>
      </p:sp>
      <p:graphicFrame>
        <p:nvGraphicFramePr>
          <p:cNvPr id="3" name="">
            <a:extLst xmlns:a="http://schemas.openxmlformats.org/drawingml/2006/main">
              <a:ext uri="{FF2B5EF4-FFF2-40B4-BE49-F238E27FC236}">
                <a16:creationId xmlns:a16="http://schemas.microsoft.com/office/drawing/2014/main" id="{3C42EAFD-5880-497E-A78E-AB67591E2F01}"/>
              </a:ext>
            </a:extLst>
          </p:cNvPr>
          <p:cNvGraphicFramePr/>
          <p:nvPr/>
        </p:nvGraphicFramePr>
        <p:xfrm>
          <a:off xmlns:a="http://schemas.openxmlformats.org/drawingml/2006/main" x="838200" y="1828800"/>
          <a:ext xmlns:a="http://schemas.openxmlformats.org/drawingml/2006/main" cx="10515600" cy="4191000"/>
        </p:xfrm>
        <a:graphic xmlns:a="http://schemas.openxmlformats.org/drawingml/2006/main">
          <a:graphicData uri="http://schemas.openxmlformats.org/drawingml/2006/table">
            <a:tbl>
              <a:tblPr/>
              <a:tblGrid>
                <a:gridCol w="2905125"/>
                <a:gridCol w="3810000"/>
                <a:gridCol w="3800475"/>
              </a:tblGrid>
              <a:tr h="495300">
                <a:tc>
                  <a:txBody>
                    <a:bodyPr>
                      <a:noAutofit/>
                    </a:bodyPr>
                    <a:lstStyle/>
                    <a:p>
                      <a:r>
                        <a:rPr sz="1800" b="1">
                          <a:solidFill>
                            <a:srgbClr val="000000"/>
                          </a:solidFill>
                          <a:latin typeface="Aptos"/>
                          <a:ea typeface="Aptos"/>
                          <a:cs typeface="Aptos"/>
                        </a:rPr>
                        <a:t>Action / owner / timing</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Experiment or learning method</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Evidence and acceptance</a:t>
                      </a:r>
                    </a:p>
                  </a:txBody>
                  <a:tcPr marL="114300" marR="114300" marT="47625" marB="47625" anchor="t">
                    <a:solidFill>
                      <a:srgbClr val="F2F2F2"/>
                    </a:solidFill>
                  </a:tcPr>
                </a:tc>
              </a:tr>
              <a:tr h="1231900">
                <a:tc>
                  <a:txBody>
                    <a:bodyPr>
                      <a:noAutofit/>
                    </a:bodyPr>
                    <a:lstStyle/>
                    <a:p>
                      <a:r>
                        <a:rPr sz="1800" b="0">
                          <a:solidFill>
                            <a:srgbClr val="000000"/>
                          </a:solidFill>
                          <a:latin typeface="Aptos"/>
                          <a:ea typeface="Aptos"/>
                          <a:cs typeface="Aptos"/>
                        </a:rPr>
                        <a:t>L1 Protected experiments</a:t>
                      </a:r>
                    </a:p>
                    <a:p>
                      <a:r>
                        <a:rPr sz="1800" b="0">
                          <a:solidFill>
                            <a:srgbClr val="000000"/>
                          </a:solidFill>
                          <a:latin typeface="Aptos"/>
                          <a:ea typeface="Aptos"/>
                          <a:cs typeface="Aptos"/>
                        </a:rPr>
                        <a:t>Squad lead; from week 2</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Reserve 10% of pilot time. Log a hypothesis, baseline, bounded staging test, success rule and stop rule.</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One recorded experiment every 2 weeks; retain unsuccessful results and decisions.</a:t>
                      </a:r>
                    </a:p>
                  </a:txBody>
                  <a:tcPr marL="114300" marR="114300" marT="47625" marB="47625" anchor="t">
                    <a:solidFill>
                      <a:srgbClr val="FFFFFF"/>
                    </a:solidFill>
                  </a:tcPr>
                </a:tc>
              </a:tr>
              <a:tr h="1231900">
                <a:tc>
                  <a:txBody>
                    <a:bodyPr>
                      <a:noAutofit/>
                    </a:bodyPr>
                    <a:lstStyle/>
                    <a:p>
                      <a:r>
                        <a:rPr sz="1800" b="0">
                          <a:solidFill>
                            <a:srgbClr val="000000"/>
                          </a:solidFill>
                          <a:latin typeface="Aptos"/>
                          <a:ea typeface="Aptos"/>
                          <a:cs typeface="Aptos"/>
                        </a:rPr>
                        <a:t>L2 No-blame review</a:t>
                      </a:r>
                    </a:p>
                    <a:p>
                      <a:r>
                        <a:rPr sz="1800" b="0">
                          <a:solidFill>
                            <a:srgbClr val="000000"/>
                          </a:solidFill>
                          <a:latin typeface="Aptos"/>
                          <a:ea typeface="Aptos"/>
                          <a:cs typeface="Aptos"/>
                        </a:rPr>
                        <a:t>Ops + Test; from week 3</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Review incidents and near misses within 2 working days. Use a timeline and contributing system factors.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Publish review; assign actions and dates; close only after a test or runbook change.</a:t>
                      </a:r>
                    </a:p>
                  </a:txBody>
                  <a:tcPr marL="114300" marR="114300" marT="47625" marB="47625" anchor="t">
                    <a:solidFill>
                      <a:srgbClr val="FFFFFF"/>
                    </a:solidFill>
                  </a:tcPr>
                </a:tc>
              </a:tr>
              <a:tr h="1231900">
                <a:tc>
                  <a:txBody>
                    <a:bodyPr>
                      <a:noAutofit/>
                    </a:bodyPr>
                    <a:lstStyle/>
                    <a:p>
                      <a:r>
                        <a:rPr sz="1800" b="0">
                          <a:solidFill>
                            <a:srgbClr val="000000"/>
                          </a:solidFill>
                          <a:latin typeface="Aptos"/>
                          <a:ea typeface="Aptos"/>
                          <a:cs typeface="Aptos"/>
                        </a:rPr>
                        <a:t>L3 Shared learning</a:t>
                      </a:r>
                    </a:p>
                    <a:p>
                      <a:r>
                        <a:rPr sz="1800" b="0">
                          <a:solidFill>
                            <a:srgbClr val="000000"/>
                          </a:solidFill>
                          <a:latin typeface="Aptos"/>
                          <a:ea typeface="Aptos"/>
                          <a:cs typeface="Aptos"/>
                        </a:rPr>
                        <a:t>Dev/Test leads; from week 3</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Pair across roles; weekly 30-minute demo; shared wiki; monthly community meeting across all teams.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Show a lesson reused by another team; rotate demo ownership and maintain an index.</a:t>
                      </a:r>
                    </a:p>
                  </a:txBody>
                  <a:tcPr marL="114300" marR="114300" marT="47625" marB="47625" anchor="t">
                    <a:solidFill>
                      <a:srgbClr val="FFFFFF"/>
                    </a:solidFill>
                  </a:tcPr>
                </a:tc>
              </a:tr>
            </a:tbl>
          </a:graphicData>
        </a:graphic>
      </p:graphicFrame>
      <p:sp>
        <p:nvSpPr>
          <p:cNvPr id="4" name="table-footnote">
            <a:extLst xmlns:a="http://schemas.openxmlformats.org/drawingml/2006/main">
              <a:ext uri="{FF2B5EF4-FFF2-40B4-BE49-F238E27FC236}">
                <a16:creationId xmlns:a16="http://schemas.microsoft.com/office/drawing/2014/main" id="{507D1D93-C121-4072-8C01-87AC430C8B0A}"/>
              </a:ext>
            </a:extLst>
          </p:cNvPr>
          <p:cNvSpPr>
            <a:spLocks xmlns:a="http://schemas.openxmlformats.org/drawingml/2006/main" noGrp="1"/>
          </p:cNvSpPr>
          <p:nvPr/>
        </p:nvSpPr>
        <p:spPr>
          <a:xfrm xmlns:a="http://schemas.openxmlformats.org/drawingml/2006/main">
            <a:off x="838200" y="61531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95959"/>
                </a:solidFill>
                <a:latin typeface="Aptos"/>
                <a:ea typeface="Aptos"/>
                <a:cs typeface="Aptos"/>
              </a:defRPr>
            </a:defPPr>
          </a:lstStyle>
          <a:p xmlns:a="http://schemas.openxmlformats.org/drawingml/2006/main">
            <a:pPr algn="l">
              <a:defRPr sz="1600" b="0">
                <a:solidFill>
                  <a:srgbClr val="595959"/>
                </a:solidFill>
                <a:latin typeface="Aptos"/>
                <a:ea typeface="Aptos"/>
                <a:cs typeface="Aptos"/>
              </a:defRPr>
            </a:pPr>
            <a:r>
              <a:rPr sz="1600" b="0">
                <a:solidFill>
                  <a:srgbClr val="595959"/>
                </a:solidFill>
                <a:latin typeface="Aptos"/>
                <a:ea typeface="Aptos"/>
                <a:cs typeface="Aptos"/>
              </a:rPr>
              <a:t>Resilience drills begin in staging only, with a named supervisor and an immediate stop/restore procedure.</a:t>
            </a:r>
          </a:p>
        </p:txBody>
      </p:sp>
      <p:sp>
        <p:nvSpPr>
          <p:cNvPr id="5" name="page-number">
            <a:extLst xmlns:a="http://schemas.openxmlformats.org/drawingml/2006/main">
              <a:ext uri="{FF2B5EF4-FFF2-40B4-BE49-F238E27FC236}">
                <a16:creationId xmlns:a16="http://schemas.microsoft.com/office/drawing/2014/main" id="{53691C54-B19D-447C-88AD-3ADCD5D085CF}"/>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15</a:t>
            </a:r>
          </a:p>
        </p:txBody>
      </p:sp>
    </p:spTree>
    <p:extLst>
      <p:ext uri="{BB962C8B-B14F-4D97-AF65-F5344CB8AC3E}">
        <p14:creationId xmlns:p14="http://schemas.microsoft.com/office/powerpoint/2010/main" val="184444743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460DBA-C88E-0581-9DD6-27A355E53F38}"/>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3 - Knowledge and culture</a:t>
            </a:r>
            <a:endParaRPr sz="2500"/>
          </a:p>
        </p:txBody>
      </p:sp>
      <p:sp>
        <p:nvSpPr>
          <p:cNvPr id="3" name="block-1-label">
            <a:extLst xmlns:a="http://schemas.openxmlformats.org/drawingml/2006/main">
              <a:ext uri="{FF2B5EF4-FFF2-40B4-BE49-F238E27FC236}">
                <a16:creationId xmlns:a16="http://schemas.microsoft.com/office/drawing/2014/main" id="{AB517A71-EC0A-45C9-BC18-81B0A5095C04}"/>
              </a:ext>
            </a:extLst>
          </p:cNvPr>
          <p:cNvSpPr>
            <a:spLocks xmlns:a="http://schemas.openxmlformats.org/drawingml/2006/main" noGrp="1"/>
          </p:cNvSpPr>
          <p:nvPr/>
        </p:nvSpPr>
        <p:spPr>
          <a:xfrm xmlns:a="http://schemas.openxmlformats.org/drawingml/2006/main">
            <a:off x="838200" y="18097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How knowledge is created</a:t>
            </a:r>
          </a:p>
        </p:txBody>
      </p:sp>
      <p:sp>
        <p:nvSpPr>
          <p:cNvPr id="4" name="block-1-text">
            <a:extLst xmlns:a="http://schemas.openxmlformats.org/drawingml/2006/main">
              <a:ext uri="{FF2B5EF4-FFF2-40B4-BE49-F238E27FC236}">
                <a16:creationId xmlns:a16="http://schemas.microsoft.com/office/drawing/2014/main" id="{1254E2FF-78ED-42D8-A620-3B3E049EECDF}"/>
              </a:ext>
            </a:extLst>
          </p:cNvPr>
          <p:cNvSpPr>
            <a:spLocks xmlns:a="http://schemas.openxmlformats.org/drawingml/2006/main" noGrp="1"/>
          </p:cNvSpPr>
          <p:nvPr/>
        </p:nvSpPr>
        <p:spPr>
          <a:xfrm xmlns:a="http://schemas.openxmlformats.org/drawingml/2006/main">
            <a:off x="838200" y="219075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Queue maps reveal constraints; test failures reveal defects; release drills expose recovery gaps; user feedback reveals needs; experiments compare a hypothesis with observed results.</a:t>
            </a:r>
          </a:p>
        </p:txBody>
      </p:sp>
      <p:sp>
        <p:nvSpPr>
          <p:cNvPr id="5" name="block-2-label">
            <a:extLst xmlns:a="http://schemas.openxmlformats.org/drawingml/2006/main">
              <a:ext uri="{FF2B5EF4-FFF2-40B4-BE49-F238E27FC236}">
                <a16:creationId xmlns:a16="http://schemas.microsoft.com/office/drawing/2014/main" id="{8940A1A4-B792-4D23-AACF-A79341DE9FED}"/>
              </a:ext>
            </a:extLst>
          </p:cNvPr>
          <p:cNvSpPr>
            <a:spLocks xmlns:a="http://schemas.openxmlformats.org/drawingml/2006/main" noGrp="1"/>
          </p:cNvSpPr>
          <p:nvPr/>
        </p:nvSpPr>
        <p:spPr>
          <a:xfrm xmlns:a="http://schemas.openxmlformats.org/drawingml/2006/main">
            <a:off x="838200" y="330517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How knowledge becomes organizational</a:t>
            </a:r>
          </a:p>
        </p:txBody>
      </p:sp>
      <p:sp>
        <p:nvSpPr>
          <p:cNvPr id="6" name="block-2-text">
            <a:extLst xmlns:a="http://schemas.openxmlformats.org/drawingml/2006/main">
              <a:ext uri="{FF2B5EF4-FFF2-40B4-BE49-F238E27FC236}">
                <a16:creationId xmlns:a16="http://schemas.microsoft.com/office/drawing/2014/main" id="{0D8487FF-2CF4-40EB-B643-D7BFFBAAB1FD}"/>
              </a:ext>
            </a:extLst>
          </p:cNvPr>
          <p:cNvSpPr>
            <a:spLocks xmlns:a="http://schemas.openxmlformats.org/drawingml/2006/main" noGrp="1"/>
          </p:cNvSpPr>
          <p:nvPr/>
        </p:nvSpPr>
        <p:spPr>
          <a:xfrm xmlns:a="http://schemas.openxmlformats.org/drawingml/2006/main">
            <a:off x="838200" y="3686175"/>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An individual records the finding -&gt; Dev/Test/Ops review it -&gt; publish a test, runbook or decision -&gt; another team reuses it -&gt; verify reuse at the next monthly review.</a:t>
            </a:r>
          </a:p>
        </p:txBody>
      </p:sp>
      <p:sp>
        <p:nvSpPr>
          <p:cNvPr id="7" name="block-3-label">
            <a:extLst xmlns:a="http://schemas.openxmlformats.org/drawingml/2006/main">
              <a:ext uri="{FF2B5EF4-FFF2-40B4-BE49-F238E27FC236}">
                <a16:creationId xmlns:a16="http://schemas.microsoft.com/office/drawing/2014/main" id="{219581D2-4CEB-4660-81F4-CD36D17EE1B8}"/>
              </a:ext>
            </a:extLst>
          </p:cNvPr>
          <p:cNvSpPr>
            <a:spLocks xmlns:a="http://schemas.openxmlformats.org/drawingml/2006/main" noGrp="1"/>
          </p:cNvSpPr>
          <p:nvPr/>
        </p:nvSpPr>
        <p:spPr>
          <a:xfrm xmlns:a="http://schemas.openxmlformats.org/drawingml/2006/main">
            <a:off x="838200" y="480060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Culture change | CEO + department heads</a:t>
            </a:r>
          </a:p>
        </p:txBody>
      </p:sp>
      <p:sp>
        <p:nvSpPr>
          <p:cNvPr id="8" name="block-3-text">
            <a:extLst xmlns:a="http://schemas.openxmlformats.org/drawingml/2006/main">
              <a:ext uri="{FF2B5EF4-FFF2-40B4-BE49-F238E27FC236}">
                <a16:creationId xmlns:a16="http://schemas.microsoft.com/office/drawing/2014/main" id="{8BA3D22A-CDA9-4ACE-83A3-F80610E626FB}"/>
              </a:ext>
            </a:extLst>
          </p:cNvPr>
          <p:cNvSpPr>
            <a:spLocks xmlns:a="http://schemas.openxmlformats.org/drawingml/2006/main" noGrp="1"/>
          </p:cNvSpPr>
          <p:nvPr/>
        </p:nvSpPr>
        <p:spPr>
          <a:xfrm xmlns:a="http://schemas.openxmlformats.org/drawingml/2006/main">
            <a:off x="838200" y="518160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Model no-blame reviews, welcome early risk reports and protect learning time. Reward shared delivery and reliability outcomes. Survey trust monthly and act on concerns; do not rank individuals by deployment counts.</a:t>
            </a:r>
          </a:p>
        </p:txBody>
      </p:sp>
      <p:sp>
        <p:nvSpPr>
          <p:cNvPr id="9" name="page-number">
            <a:extLst xmlns:a="http://schemas.openxmlformats.org/drawingml/2006/main">
              <a:ext uri="{FF2B5EF4-FFF2-40B4-BE49-F238E27FC236}">
                <a16:creationId xmlns:a16="http://schemas.microsoft.com/office/drawing/2014/main" id="{FD5C6F17-6411-4777-A37A-A648EC5ABE8F}"/>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16</a:t>
            </a:r>
          </a:p>
        </p:txBody>
      </p:sp>
    </p:spTree>
    <p:extLst>
      <p:ext uri="{BB962C8B-B14F-4D97-AF65-F5344CB8AC3E}">
        <p14:creationId xmlns:p14="http://schemas.microsoft.com/office/powerpoint/2010/main" val="184444743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255E5C-FF22-1CCE-D0FF-BA681B044512}"/>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Task 3 - Revised integrated timeline</a:t>
            </a:r>
            <a:endParaRPr sz="2500"/>
          </a:p>
        </p:txBody>
      </p:sp>
      <p:graphicFrame>
        <p:nvGraphicFramePr>
          <p:cNvPr id="3" name="">
            <a:extLst xmlns:a="http://schemas.openxmlformats.org/drawingml/2006/main">
              <a:ext uri="{FF2B5EF4-FFF2-40B4-BE49-F238E27FC236}">
                <a16:creationId xmlns:a16="http://schemas.microsoft.com/office/drawing/2014/main" id="{1F56FE15-576F-4703-9F57-C83171A7B379}"/>
              </a:ext>
            </a:extLst>
          </p:cNvPr>
          <p:cNvGraphicFramePr/>
          <p:nvPr/>
        </p:nvGraphicFramePr>
        <p:xfrm>
          <a:off xmlns:a="http://schemas.openxmlformats.org/drawingml/2006/main" x="838200" y="1828800"/>
          <a:ext xmlns:a="http://schemas.openxmlformats.org/drawingml/2006/main" cx="10515600" cy="4191000"/>
        </p:xfrm>
        <a:graphic xmlns:a="http://schemas.openxmlformats.org/drawingml/2006/main">
          <a:graphicData uri="http://schemas.openxmlformats.org/drawingml/2006/table">
            <a:tbl>
              <a:tblPr/>
              <a:tblGrid>
                <a:gridCol w="1809750"/>
                <a:gridCol w="2952750"/>
                <a:gridCol w="2952750"/>
                <a:gridCol w="2800350"/>
              </a:tblGrid>
              <a:tr h="495300">
                <a:tc>
                  <a:txBody>
                    <a:bodyPr>
                      <a:noAutofit/>
                    </a:bodyPr>
                    <a:lstStyle/>
                    <a:p>
                      <a:r>
                        <a:rPr sz="1800" b="1">
                          <a:solidFill>
                            <a:srgbClr val="000000"/>
                          </a:solidFill>
                          <a:latin typeface="Aptos"/>
                          <a:ea typeface="Aptos"/>
                          <a:cs typeface="Aptos"/>
                        </a:rPr>
                        <a:t>Stage</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Flow</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Feedback</a:t>
                      </a:r>
                    </a:p>
                  </a:txBody>
                  <a:tcPr marL="114300" marR="114300" marT="47625" marB="47625" anchor="t">
                    <a:solidFill>
                      <a:srgbClr val="F2F2F2"/>
                    </a:solidFill>
                  </a:tcPr>
                </a:tc>
                <a:tc>
                  <a:txBody>
                    <a:bodyPr>
                      <a:noAutofit/>
                    </a:bodyPr>
                    <a:lstStyle/>
                    <a:p>
                      <a:r>
                        <a:rPr sz="1800" b="1">
                          <a:solidFill>
                            <a:srgbClr val="000000"/>
                          </a:solidFill>
                          <a:latin typeface="Aptos"/>
                          <a:ea typeface="Aptos"/>
                          <a:cs typeface="Aptos"/>
                        </a:rPr>
                        <a:t>Learning (Third Way)</a:t>
                      </a:r>
                    </a:p>
                  </a:txBody>
                  <a:tcPr marL="114300" marR="114300" marT="47625" marB="47625" anchor="t">
                    <a:solidFill>
                      <a:srgbClr val="F2F2F2"/>
                    </a:solidFill>
                  </a:tcPr>
                </a:tc>
              </a:tr>
              <a:tr h="923925">
                <a:tc>
                  <a:txBody>
                    <a:bodyPr>
                      <a:noAutofit/>
                    </a:bodyPr>
                    <a:lstStyle/>
                    <a:p>
                      <a:r>
                        <a:rPr sz="1800" b="0">
                          <a:solidFill>
                            <a:srgbClr val="000000"/>
                          </a:solidFill>
                          <a:latin typeface="Aptos"/>
                          <a:ea typeface="Aptos"/>
                          <a:cs typeface="Aptos"/>
                        </a:rPr>
                        <a:t>Weeks 1-2</a:t>
                      </a:r>
                    </a:p>
                    <a:p>
                      <a:r>
                        <a:rPr sz="1800" b="0">
                          <a:solidFill>
                            <a:srgbClr val="000000"/>
                          </a:solidFill>
                          <a:latin typeface="Aptos"/>
                          <a:ea typeface="Aptos"/>
                          <a:cs typeface="Aptos"/>
                        </a:rPr>
                        <a:t>Understand</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Map queues; choose pilot; agree WIP and owners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Baseline delivery metrics; collect Sales feedback</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Trust charter; reserve 10% learning time</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Weeks 3-5</a:t>
                      </a:r>
                    </a:p>
                    <a:p>
                      <a:r>
                        <a:rPr sz="1800" b="0">
                          <a:solidFill>
                            <a:srgbClr val="000000"/>
                          </a:solidFill>
                          <a:latin typeface="Aptos"/>
                          <a:ea typeface="Aptos"/>
                          <a:cs typeface="Aptos"/>
                        </a:rPr>
                        <a:t>Build</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Create pipeline; small commits; automate repeatable tests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Return failed checks to owners; instrument staging</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Pair Dev/Test; log experiments; review near misses</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Weeks 6-8</a:t>
                      </a:r>
                    </a:p>
                    <a:p>
                      <a:r>
                        <a:rPr sz="1800" b="0">
                          <a:solidFill>
                            <a:srgbClr val="000000"/>
                          </a:solidFill>
                          <a:latin typeface="Aptos"/>
                          <a:ea typeface="Aptos"/>
                          <a:cs typeface="Aptos"/>
                        </a:rPr>
                        <a:t>Validate</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Gated small pilot releases; rehearsed rollback</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Monitor live behavior; review metrics/support weekly</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Staging resilience drill; publish findings; revise WIP and gates</a:t>
                      </a:r>
                    </a:p>
                  </a:txBody>
                  <a:tcPr marL="114300" marR="114300" marT="47625" marB="47625" anchor="t">
                    <a:solidFill>
                      <a:srgbClr val="FFFFFF"/>
                    </a:solidFill>
                  </a:tcPr>
                </a:tc>
              </a:tr>
              <a:tr h="923925">
                <a:tc>
                  <a:txBody>
                    <a:bodyPr>
                      <a:noAutofit/>
                    </a:bodyPr>
                    <a:lstStyle/>
                    <a:p>
                      <a:r>
                        <a:rPr sz="1800" b="0">
                          <a:solidFill>
                            <a:srgbClr val="000000"/>
                          </a:solidFill>
                          <a:latin typeface="Aptos"/>
                          <a:ea typeface="Aptos"/>
                          <a:cs typeface="Aptos"/>
                        </a:rPr>
                        <a:t>Weeks 9-12</a:t>
                      </a:r>
                    </a:p>
                    <a:p>
                      <a:r>
                        <a:rPr sz="1800" b="0">
                          <a:solidFill>
                            <a:srgbClr val="000000"/>
                          </a:solidFill>
                          <a:latin typeface="Aptos"/>
                          <a:ea typeface="Aptos"/>
                          <a:cs typeface="Aptos"/>
                        </a:rPr>
                        <a:t>Scale</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Onboard other teams only when pilot gates pass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Compare metrics across teams with shared definitions</a:t>
                      </a:r>
                    </a:p>
                  </a:txBody>
                  <a:tcPr marL="114300" marR="114300" marT="47625" marB="47625" anchor="t">
                    <a:solidFill>
                      <a:srgbClr val="FFFFFF"/>
                    </a:solidFill>
                  </a:tcPr>
                </a:tc>
                <a:tc>
                  <a:txBody>
                    <a:bodyPr>
                      <a:noAutofit/>
                    </a:bodyPr>
                    <a:lstStyle/>
                    <a:p>
                      <a:r>
                        <a:rPr sz="1800" b="0">
                          <a:solidFill>
                            <a:srgbClr val="000000"/>
                          </a:solidFill>
                          <a:latin typeface="Aptos"/>
                          <a:ea typeface="Aptos"/>
                          <a:cs typeface="Aptos"/>
                        </a:rPr>
                        <a:t>Peer onboarding; reuse runbooks; share monthly</a:t>
                      </a:r>
                    </a:p>
                  </a:txBody>
                  <a:tcPr marL="114300" marR="114300" marT="47625" marB="47625" anchor="t">
                    <a:solidFill>
                      <a:srgbClr val="FFFFFF"/>
                    </a:solidFill>
                  </a:tcPr>
                </a:tc>
              </a:tr>
            </a:tbl>
          </a:graphicData>
        </a:graphic>
      </p:graphicFrame>
      <p:sp>
        <p:nvSpPr>
          <p:cNvPr id="4" name="table-footnote">
            <a:extLst xmlns:a="http://schemas.openxmlformats.org/drawingml/2006/main">
              <a:ext uri="{FF2B5EF4-FFF2-40B4-BE49-F238E27FC236}">
                <a16:creationId xmlns:a16="http://schemas.microsoft.com/office/drawing/2014/main" id="{324DA5CC-F595-4181-87D7-9816D71333A1}"/>
              </a:ext>
            </a:extLst>
          </p:cNvPr>
          <p:cNvSpPr>
            <a:spLocks xmlns:a="http://schemas.openxmlformats.org/drawingml/2006/main" noGrp="1"/>
          </p:cNvSpPr>
          <p:nvPr/>
        </p:nvSpPr>
        <p:spPr>
          <a:xfrm xmlns:a="http://schemas.openxmlformats.org/drawingml/2006/main">
            <a:off x="838200" y="61531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95959"/>
                </a:solidFill>
                <a:latin typeface="Aptos"/>
                <a:ea typeface="Aptos"/>
                <a:cs typeface="Aptos"/>
              </a:defRPr>
            </a:defPPr>
          </a:lstStyle>
          <a:p xmlns:a="http://schemas.openxmlformats.org/drawingml/2006/main">
            <a:pPr algn="l">
              <a:defRPr sz="1600" b="0">
                <a:solidFill>
                  <a:srgbClr val="595959"/>
                </a:solidFill>
                <a:latin typeface="Aptos"/>
                <a:ea typeface="Aptos"/>
                <a:cs typeface="Aptos"/>
              </a:defRPr>
            </a:pPr>
            <a:r>
              <a:rPr sz="1600" b="0">
                <a:solidFill>
                  <a:srgbClr val="595959"/>
                </a:solidFill>
                <a:latin typeface="Aptos"/>
                <a:ea typeface="Aptos"/>
                <a:cs typeface="Aptos"/>
              </a:rPr>
              <a:t>Revision: culture and protected learning now start before tooling and rollout. Scale remains conditional.</a:t>
            </a:r>
          </a:p>
        </p:txBody>
      </p:sp>
      <p:sp>
        <p:nvSpPr>
          <p:cNvPr id="5" name="page-number">
            <a:extLst xmlns:a="http://schemas.openxmlformats.org/drawingml/2006/main">
              <a:ext uri="{FF2B5EF4-FFF2-40B4-BE49-F238E27FC236}">
                <a16:creationId xmlns:a16="http://schemas.microsoft.com/office/drawing/2014/main" id="{A1DCB77E-2A38-475C-86EE-8570BDE06361}"/>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17</a:t>
            </a:r>
          </a:p>
        </p:txBody>
      </p:sp>
    </p:spTree>
    <p:extLst>
      <p:ext uri="{BB962C8B-B14F-4D97-AF65-F5344CB8AC3E}">
        <p14:creationId xmlns:p14="http://schemas.microsoft.com/office/powerpoint/2010/main" val="377955392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255E5C-FF22-1CCE-D0FF-BA681B044512}"/>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Complete plan - Handover and review</a:t>
            </a:r>
            <a:endParaRPr sz="2500"/>
          </a:p>
        </p:txBody>
      </p:sp>
      <p:sp>
        <p:nvSpPr>
          <p:cNvPr id="3" name="block-1-label">
            <a:extLst xmlns:a="http://schemas.openxmlformats.org/drawingml/2006/main">
              <a:ext uri="{FF2B5EF4-FFF2-40B4-BE49-F238E27FC236}">
                <a16:creationId xmlns:a16="http://schemas.microsoft.com/office/drawing/2014/main" id="{CB097DBD-7104-48EE-B37B-01253DD83396}"/>
              </a:ext>
            </a:extLst>
          </p:cNvPr>
          <p:cNvSpPr>
            <a:spLocks xmlns:a="http://schemas.openxmlformats.org/drawingml/2006/main" noGrp="1"/>
          </p:cNvSpPr>
          <p:nvPr/>
        </p:nvSpPr>
        <p:spPr>
          <a:xfrm xmlns:a="http://schemas.openxmlformats.org/drawingml/2006/main">
            <a:off x="838200" y="18097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Execution pack | Transformation lead</a:t>
            </a:r>
          </a:p>
        </p:txBody>
      </p:sp>
      <p:sp>
        <p:nvSpPr>
          <p:cNvPr id="4" name="block-1-text">
            <a:extLst xmlns:a="http://schemas.openxmlformats.org/drawingml/2006/main">
              <a:ext uri="{FF2B5EF4-FFF2-40B4-BE49-F238E27FC236}">
                <a16:creationId xmlns:a16="http://schemas.microsoft.com/office/drawing/2014/main" id="{05BEED83-8ABE-493E-B51F-5850AE1B80AC}"/>
              </a:ext>
            </a:extLst>
          </p:cNvPr>
          <p:cNvSpPr>
            <a:spLocks xmlns:a="http://schemas.openxmlformats.org/drawingml/2006/main" noGrp="1"/>
          </p:cNvSpPr>
          <p:nvPr/>
        </p:nvSpPr>
        <p:spPr>
          <a:xfrm xmlns:a="http://schemas.openxmlformats.org/drawingml/2006/main">
            <a:off x="838200" y="219075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Deliver the value-stream map, squad charter, backlog/WIP policy, CI configuration, test ownership, database migration rules, release/restore runbooks, dashboard and experiment log. Each document has an owner.</a:t>
            </a:r>
          </a:p>
        </p:txBody>
      </p:sp>
      <p:sp>
        <p:nvSpPr>
          <p:cNvPr id="5" name="block-2-label">
            <a:extLst xmlns:a="http://schemas.openxmlformats.org/drawingml/2006/main">
              <a:ext uri="{FF2B5EF4-FFF2-40B4-BE49-F238E27FC236}">
                <a16:creationId xmlns:a16="http://schemas.microsoft.com/office/drawing/2014/main" id="{A38FC547-E9E8-43ED-BD58-1EB7CDD3B1D2}"/>
              </a:ext>
            </a:extLst>
          </p:cNvPr>
          <p:cNvSpPr>
            <a:spLocks xmlns:a="http://schemas.openxmlformats.org/drawingml/2006/main" noGrp="1"/>
          </p:cNvSpPr>
          <p:nvPr/>
        </p:nvSpPr>
        <p:spPr>
          <a:xfrm xmlns:a="http://schemas.openxmlformats.org/drawingml/2006/main">
            <a:off x="838200" y="330517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Week 12 review | CEO + all department leads</a:t>
            </a:r>
          </a:p>
        </p:txBody>
      </p:sp>
      <p:sp>
        <p:nvSpPr>
          <p:cNvPr id="6" name="block-2-text">
            <a:extLst xmlns:a="http://schemas.openxmlformats.org/drawingml/2006/main">
              <a:ext uri="{FF2B5EF4-FFF2-40B4-BE49-F238E27FC236}">
                <a16:creationId xmlns:a16="http://schemas.microsoft.com/office/drawing/2014/main" id="{6F84A18D-8B68-42AD-B4F3-139E36837ACC}"/>
              </a:ext>
            </a:extLst>
          </p:cNvPr>
          <p:cNvSpPr>
            <a:spLocks xmlns:a="http://schemas.openxmlformats.org/drawingml/2006/main" noGrp="1"/>
          </p:cNvSpPr>
          <p:nvPr/>
        </p:nvSpPr>
        <p:spPr>
          <a:xfrm xmlns:a="http://schemas.openxmlformats.org/drawingml/2006/main">
            <a:off x="838200" y="3686175"/>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Compare pilot outcomes with the recorded baseline; show sample sizes and unresolved risks. Check that another team can execute a release and reuse a documented lesson. Decide to scale, adjust or extend the pilot.</a:t>
            </a:r>
          </a:p>
        </p:txBody>
      </p:sp>
      <p:sp>
        <p:nvSpPr>
          <p:cNvPr id="7" name="block-3-label">
            <a:extLst xmlns:a="http://schemas.openxmlformats.org/drawingml/2006/main">
              <a:ext uri="{FF2B5EF4-FFF2-40B4-BE49-F238E27FC236}">
                <a16:creationId xmlns:a16="http://schemas.microsoft.com/office/drawing/2014/main" id="{7C078941-C989-4EE9-A62C-C65459B28CE0}"/>
              </a:ext>
            </a:extLst>
          </p:cNvPr>
          <p:cNvSpPr>
            <a:spLocks xmlns:a="http://schemas.openxmlformats.org/drawingml/2006/main" noGrp="1"/>
          </p:cNvSpPr>
          <p:nvPr/>
        </p:nvSpPr>
        <p:spPr>
          <a:xfrm xmlns:a="http://schemas.openxmlformats.org/drawingml/2006/main">
            <a:off x="838200" y="480060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Main risks and responses</a:t>
            </a:r>
          </a:p>
        </p:txBody>
      </p:sp>
      <p:sp>
        <p:nvSpPr>
          <p:cNvPr id="8" name="block-3-text">
            <a:extLst xmlns:a="http://schemas.openxmlformats.org/drawingml/2006/main">
              <a:ext uri="{FF2B5EF4-FFF2-40B4-BE49-F238E27FC236}">
                <a16:creationId xmlns:a16="http://schemas.microsoft.com/office/drawing/2014/main" id="{9FFF3BAF-638E-4FDB-B67A-6A3DF2691E16}"/>
              </a:ext>
            </a:extLst>
          </p:cNvPr>
          <p:cNvSpPr>
            <a:spLocks xmlns:a="http://schemas.openxmlformats.org/drawingml/2006/main" noGrp="1"/>
          </p:cNvSpPr>
          <p:nvPr/>
        </p:nvSpPr>
        <p:spPr>
          <a:xfrm xmlns:a="http://schemas.openxmlformats.org/drawingml/2006/main">
            <a:off x="838200" y="518160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Feature capacity falls: Sales reprioritizes. Database coupling persists: retain compatibility checks. Trust is weak: leaders change incentives and review behavior. Results are inconclusive: collect more evidence before broader rollout.</a:t>
            </a:r>
          </a:p>
        </p:txBody>
      </p:sp>
      <p:sp>
        <p:nvSpPr>
          <p:cNvPr id="9" name="page-number">
            <a:extLst xmlns:a="http://schemas.openxmlformats.org/drawingml/2006/main">
              <a:ext uri="{FF2B5EF4-FFF2-40B4-BE49-F238E27FC236}">
                <a16:creationId xmlns:a16="http://schemas.microsoft.com/office/drawing/2014/main" id="{3A5B28B8-A4DA-4451-8DAC-D67F1902F0C0}"/>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18</a:t>
            </a:r>
          </a:p>
        </p:txBody>
      </p:sp>
    </p:spTree>
    <p:extLst>
      <p:ext uri="{BB962C8B-B14F-4D97-AF65-F5344CB8AC3E}">
        <p14:creationId xmlns:p14="http://schemas.microsoft.com/office/powerpoint/2010/main" val="377955392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303707-743F-29D9-4314-6D16F2FF33C7}"/>
              </a:ext>
            </a:extLst>
          </p:cNvPr>
          <p:cNvSpPr>
            <a:spLocks xmlns:a="http://schemas.openxmlformats.org/drawingml/2006/main" noGrp="1"/>
          </p:cNvSpPr>
          <p:nvPr>
            <p:ph type="title" idx="0"/>
          </p:nvPr>
        </p:nvSpPr>
        <p:spPr>
          <a:xfrm xmlns:a="http://schemas.openxmlformats.org/drawingml/2006/main">
            <a:off x="838200" y="365093"/>
            <a:ext cx="10515600" cy="1325594"/>
          </a:xfrm>
        </p:spPr>
        <p:txBody>
          <a:bodyPr xmlns:a="http://schemas.openxmlformats.org/drawingml/2006/main" wrap="square" lIns="0" tIns="0" rIns="0" bIns="0" anchor="ctr">
            <a:noAutofit/>
          </a:bodyPr>
          <a:lstStyle xmlns:a="http://schemas.openxmlformats.org/drawingml/2006/main">
            <a:defPPr algn="l">
              <a:defRPr sz="4400" b="0">
                <a:solidFill>
                  <a:srgbClr val="000000"/>
                </a:solidFill>
                <a:latin typeface="Aptos Display"/>
                <a:ea typeface="Aptos Display"/>
                <a:cs typeface="Aptos Display"/>
              </a:defRPr>
            </a:defPPr>
          </a:lstStyle>
          <a:p xmlns:a="http://schemas.openxmlformats.org/drawingml/2006/main">
            <a:pPr algn="l">
              <a:defRPr sz="4400" b="0">
                <a:solidFill>
                  <a:srgbClr val="000000"/>
                </a:solidFill>
                <a:latin typeface="Aptos Display"/>
                <a:ea typeface="Aptos Display"/>
                <a:cs typeface="Aptos Display"/>
              </a:defRPr>
            </a:pPr>
            <a:r>
              <a:rPr sz="4400" b="0">
                <a:solidFill>
                  <a:srgbClr val="000000"/>
                </a:solidFill>
                <a:latin typeface="Aptos Display"/>
                <a:ea typeface="Aptos Display"/>
                <a:cs typeface="Aptos Display"/>
              </a:rPr>
              <a:t>Sources and scope of this reference</a:t>
            </a:r>
          </a:p>
        </p:txBody>
      </p:sp>
      <p:sp>
        <p:nvSpPr>
          <p:cNvPr id="3" name="block-1-label">
            <a:extLst xmlns:a="http://schemas.openxmlformats.org/drawingml/2006/main">
              <a:ext uri="{FF2B5EF4-FFF2-40B4-BE49-F238E27FC236}">
                <a16:creationId xmlns:a16="http://schemas.microsoft.com/office/drawing/2014/main" id="{92A10971-6BCB-4E2E-B9EC-1CD55F81FBFD}"/>
              </a:ext>
            </a:extLst>
          </p:cNvPr>
          <p:cNvSpPr>
            <a:spLocks xmlns:a="http://schemas.openxmlformats.org/drawingml/2006/main" noGrp="1"/>
          </p:cNvSpPr>
          <p:nvPr/>
        </p:nvSpPr>
        <p:spPr>
          <a:xfrm xmlns:a="http://schemas.openxmlformats.org/drawingml/2006/main">
            <a:off x="838200" y="18097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[1] Case facts and required tasks</a:t>
            </a:r>
          </a:p>
        </p:txBody>
      </p:sp>
      <p:sp>
        <p:nvSpPr>
          <p:cNvPr id="4" name="block-1-text">
            <a:extLst xmlns:a="http://schemas.openxmlformats.org/drawingml/2006/main">
              <a:ext uri="{FF2B5EF4-FFF2-40B4-BE49-F238E27FC236}">
                <a16:creationId xmlns:a16="http://schemas.microsoft.com/office/drawing/2014/main" id="{98CC28AF-FCC5-4EE2-B500-7B7D3E48FFE0}"/>
              </a:ext>
            </a:extLst>
          </p:cNvPr>
          <p:cNvSpPr>
            <a:spLocks xmlns:a="http://schemas.openxmlformats.org/drawingml/2006/main" noGrp="1"/>
          </p:cNvSpPr>
          <p:nvPr/>
        </p:nvSpPr>
        <p:spPr>
          <a:xfrm xmlns:a="http://schemas.openxmlformats.org/drawingml/2006/main">
            <a:off x="838200" y="219075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COMP2013, Lab 2: Understanding DevOps Through a Case Study, pp. 1-3. Submission: group PowerPoint or 3-minute video.</a:t>
            </a:r>
          </a:p>
        </p:txBody>
      </p:sp>
      <p:sp>
        <p:nvSpPr>
          <p:cNvPr id="5" name="block-2-label">
            <a:extLst xmlns:a="http://schemas.openxmlformats.org/drawingml/2006/main">
              <a:ext uri="{FF2B5EF4-FFF2-40B4-BE49-F238E27FC236}">
                <a16:creationId xmlns:a16="http://schemas.microsoft.com/office/drawing/2014/main" id="{B8F06A68-3E99-4222-A11F-C7DAC313098C}"/>
              </a:ext>
            </a:extLst>
          </p:cNvPr>
          <p:cNvSpPr>
            <a:spLocks xmlns:a="http://schemas.openxmlformats.org/drawingml/2006/main" noGrp="1"/>
          </p:cNvSpPr>
          <p:nvPr/>
        </p:nvSpPr>
        <p:spPr>
          <a:xfrm xmlns:a="http://schemas.openxmlformats.org/drawingml/2006/main">
            <a:off x="838200" y="330517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[2] Principles and classroom practices</a:t>
            </a:r>
          </a:p>
        </p:txBody>
      </p:sp>
      <p:sp>
        <p:nvSpPr>
          <p:cNvPr id="6" name="block-2-text">
            <a:extLst xmlns:a="http://schemas.openxmlformats.org/drawingml/2006/main">
              <a:ext uri="{FF2B5EF4-FFF2-40B4-BE49-F238E27FC236}">
                <a16:creationId xmlns:a16="http://schemas.microsoft.com/office/drawing/2014/main" id="{90580BCF-7A81-4947-96BE-A1C869791A13}"/>
              </a:ext>
            </a:extLst>
          </p:cNvPr>
          <p:cNvSpPr>
            <a:spLocks xmlns:a="http://schemas.openxmlformats.org/drawingml/2006/main" noGrp="1"/>
          </p:cNvSpPr>
          <p:nvPr/>
        </p:nvSpPr>
        <p:spPr>
          <a:xfrm xmlns:a="http://schemas.openxmlformats.org/drawingml/2006/main">
            <a:off x="838200" y="3686175"/>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COMP2013, Lecture 02: slides 24, 27-44 and 51-61. Used for Flow, Feedback, learning culture, CI/CD and delivery metrics. Layout follows the supplied DevOps template.</a:t>
            </a:r>
          </a:p>
        </p:txBody>
      </p:sp>
      <p:sp>
        <p:nvSpPr>
          <p:cNvPr id="7" name="block-3-label">
            <a:extLst xmlns:a="http://schemas.openxmlformats.org/drawingml/2006/main">
              <a:ext uri="{FF2B5EF4-FFF2-40B4-BE49-F238E27FC236}">
                <a16:creationId xmlns:a16="http://schemas.microsoft.com/office/drawing/2014/main" id="{0D8BF80F-E83E-4D2D-9E54-A652F8B24E50}"/>
              </a:ext>
            </a:extLst>
          </p:cNvPr>
          <p:cNvSpPr>
            <a:spLocks xmlns:a="http://schemas.openxmlformats.org/drawingml/2006/main" noGrp="1"/>
          </p:cNvSpPr>
          <p:nvPr/>
        </p:nvSpPr>
        <p:spPr>
          <a:xfrm xmlns:a="http://schemas.openxmlformats.org/drawingml/2006/main">
            <a:off x="838200" y="480060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C00000"/>
                </a:solidFill>
                <a:latin typeface="Aptos"/>
                <a:ea typeface="Aptos"/>
                <a:cs typeface="Aptos"/>
              </a:defRPr>
            </a:defPPr>
          </a:lstStyle>
          <a:p xmlns:a="http://schemas.openxmlformats.org/drawingml/2006/main">
            <a:pPr algn="l">
              <a:defRPr sz="2000" b="0">
                <a:solidFill>
                  <a:srgbClr val="C00000"/>
                </a:solidFill>
                <a:latin typeface="Aptos"/>
                <a:ea typeface="Aptos"/>
                <a:cs typeface="Aptos"/>
              </a:defRPr>
            </a:pPr>
            <a:r>
              <a:rPr sz="2000" b="0">
                <a:solidFill>
                  <a:srgbClr val="C00000"/>
                </a:solidFill>
                <a:latin typeface="Aptos"/>
                <a:ea typeface="Aptos"/>
                <a:cs typeface="Aptos"/>
              </a:rPr>
              <a:t>Assumptions and further reading</a:t>
            </a:r>
          </a:p>
        </p:txBody>
      </p:sp>
      <p:sp>
        <p:nvSpPr>
          <p:cNvPr id="8" name="block-3-text">
            <a:extLst xmlns:a="http://schemas.openxmlformats.org/drawingml/2006/main">
              <a:ext uri="{FF2B5EF4-FFF2-40B4-BE49-F238E27FC236}">
                <a16:creationId xmlns:a16="http://schemas.microsoft.com/office/drawing/2014/main" id="{450F3EE1-6BE7-4695-B578-41BA1C702D20}"/>
              </a:ext>
            </a:extLst>
          </p:cNvPr>
          <p:cNvSpPr>
            <a:spLocks xmlns:a="http://schemas.openxmlformats.org/drawingml/2006/main" noGrp="1"/>
          </p:cNvSpPr>
          <p:nvPr/>
        </p:nvSpPr>
        <p:spPr>
          <a:xfrm xmlns:a="http://schemas.openxmlformats.org/drawingml/2006/main">
            <a:off x="838200" y="5181600"/>
            <a:ext cx="10515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A1-A7, the 12-week schedule, staffing and targets are proposed. Business domain and baseline performance remain unknown. Recommended reading: The DevOps Handbook, chapters 1-3; not independently consulted for this deck.</a:t>
            </a:r>
          </a:p>
        </p:txBody>
      </p:sp>
      <p:sp>
        <p:nvSpPr>
          <p:cNvPr id="9" name="page-number">
            <a:extLst xmlns:a="http://schemas.openxmlformats.org/drawingml/2006/main">
              <a:ext uri="{FF2B5EF4-FFF2-40B4-BE49-F238E27FC236}">
                <a16:creationId xmlns:a16="http://schemas.microsoft.com/office/drawing/2014/main" id="{3018F943-95B6-46E8-8D8B-E3CA1613107A}"/>
              </a:ext>
            </a:extLst>
          </p:cNvPr>
          <p:cNvSpPr>
            <a:spLocks xmlns:a="http://schemas.openxmlformats.org/drawingml/2006/main" noGrp="1"/>
          </p:cNvSpPr>
          <p:nvPr/>
        </p:nvSpPr>
        <p:spPr>
          <a:xfrm xmlns:a="http://schemas.openxmlformats.org/drawingml/2006/main">
            <a:off x="11096625" y="66008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F7F7F"/>
                </a:solidFill>
                <a:latin typeface="Aptos"/>
                <a:ea typeface="Aptos"/>
                <a:cs typeface="Aptos"/>
              </a:defRPr>
            </a:defPPr>
          </a:lstStyle>
          <a:p xmlns:a="http://schemas.openxmlformats.org/drawingml/2006/main">
            <a:pPr algn="l">
              <a:defRPr sz="1200" b="0">
                <a:solidFill>
                  <a:srgbClr val="7F7F7F"/>
                </a:solidFill>
                <a:latin typeface="Aptos"/>
                <a:ea typeface="Aptos"/>
                <a:cs typeface="Aptos"/>
              </a:defRPr>
            </a:pPr>
            <a:r>
              <a:rPr sz="1200" b="0">
                <a:solidFill>
                  <a:srgbClr val="7F7F7F"/>
                </a:solidFill>
                <a:latin typeface="Aptos"/>
                <a:ea typeface="Aptos"/>
                <a:cs typeface="Aptos"/>
              </a:rPr>
              <a:t>19</a:t>
            </a:r>
          </a:p>
        </p:txBody>
      </p:sp>
    </p:spTree>
    <p:extLst>
      <p:ext uri="{BB962C8B-B14F-4D97-AF65-F5344CB8AC3E}">
        <p14:creationId xmlns:p14="http://schemas.microsoft.com/office/powerpoint/2010/main" val="193250773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2026-10-08T13:29:42.8530000Z</dcterms:created>
  <dcterms:modified xsi:type="dcterms:W3CDTF">2026-10-08T13:29:42.8530000Z</dcterms:modified>
</coreProperties>
</file>